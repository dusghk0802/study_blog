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Noto Sans KR"/>
      <p:regular r:id="rId37"/>
      <p:bold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3ACB06-BE76-4FB8-97A7-3B104A78617F}">
  <a:tblStyle styleId="{5B3ACB06-BE76-4FB8-97A7-3B104A7861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otoSansKR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NotoSansKR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SLIDES_API179422445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SLIDES_API179422445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139fee69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b139fee6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b1235fbc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b1235fbc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aff579b80_1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aff579b80_1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S_API1794224459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S_API179422445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SLIDES_API1794224459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SLIDES_API1794224459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fdf188e9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afdf188e9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SLIDES_API1794224459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SLIDES_API1794224459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SLIDES_API1794224459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SLIDES_API1794224459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S_API1794224459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S_API1794224459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afdf188e9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afdf188e9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LIDES_API1794224459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SLIDES_API1794224459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SLIDES_API1794224459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SLIDES_API1794224459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b1235fbc2_5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b1235fbc2_5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892078fc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892078fc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892078fc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892078fc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afae2518e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afae2518e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afae2518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afae2518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afdf188e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afdf188e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92078fc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892078fc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afdf188e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afdf188e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afdf188e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fafdf188e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892078fc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892078fc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8934956ba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8934956ba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892078fc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892078fc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afdf188e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afdf188e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892078fc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f892078fc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afdf188e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fafdf188e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afdf188e9_4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afdf188e9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SLIDES_API1794224459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SLIDES_API1794224459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ff579b80_32_0)">
  <p:cSld name="Generated (g3faff579b80_3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Relationship Id="rId4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drive.google.com/file/d/1cWVfIW-qBDw96Otmz3IEXeFqYw5QBVL5/view" TargetMode="External"/><Relationship Id="rId4" Type="http://schemas.openxmlformats.org/officeDocument/2006/relationships/image" Target="../media/image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43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33400" y="533400"/>
            <a:ext cx="888900" cy="50700"/>
          </a:xfrm>
          <a:prstGeom prst="rect">
            <a:avLst/>
          </a:prstGeom>
          <a:solidFill>
            <a:srgbClr val="E94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533400" y="1168400"/>
            <a:ext cx="825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rPr>
              <a:t>AI MOVIE COMMUNITY PLATFORM</a:t>
            </a:r>
            <a:endParaRPr b="1" sz="1200">
              <a:solidFill>
                <a:srgbClr val="E94B7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533400" y="1574800"/>
            <a:ext cx="8255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</a:t>
            </a:r>
            <a:endParaRPr b="1" sz="46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33400" y="2565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영화 추천과 커뮤니티 서비스</a:t>
            </a:r>
            <a:endParaRPr sz="15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33400" y="42926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2026.08 | 팀 CINEHUB</a:t>
            </a:r>
            <a:endParaRPr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32775" y="1941100"/>
            <a:ext cx="780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0"/>
              <a:t>http://192.168.0.14:8088/</a:t>
            </a:r>
            <a:endParaRPr sz="5000"/>
          </a:p>
        </p:txBody>
      </p:sp>
      <p:sp>
        <p:nvSpPr>
          <p:cNvPr id="65" name="Google Shape;65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533400" y="533400"/>
            <a:ext cx="888600" cy="50400"/>
          </a:xfrm>
          <a:prstGeom prst="rect">
            <a:avLst/>
          </a:prstGeom>
          <a:solidFill>
            <a:srgbClr val="E94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533400" y="762000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팀원소개</a:t>
            </a:r>
            <a:endParaRPr b="1" sz="2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72" name="Google Shape;72;p16"/>
          <p:cNvGrpSpPr/>
          <p:nvPr/>
        </p:nvGrpSpPr>
        <p:grpSpPr>
          <a:xfrm>
            <a:off x="533400" y="1714500"/>
            <a:ext cx="2476500" cy="2667000"/>
            <a:chOff x="533400" y="1714500"/>
            <a:chExt cx="2476500" cy="2667000"/>
          </a:xfrm>
        </p:grpSpPr>
        <p:sp>
          <p:nvSpPr>
            <p:cNvPr id="73" name="Google Shape;73;p16"/>
            <p:cNvSpPr/>
            <p:nvPr/>
          </p:nvSpPr>
          <p:spPr>
            <a:xfrm>
              <a:off x="5334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4304A"/>
            </a:solidFill>
            <a:ln cap="flat" cmpd="sng" w="19050">
              <a:solidFill>
                <a:srgbClr val="E94B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 txBox="1"/>
            <p:nvPr/>
          </p:nvSpPr>
          <p:spPr>
            <a:xfrm>
              <a:off x="533400" y="1714500"/>
              <a:ext cx="2476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노건우 </a:t>
              </a:r>
              <a:r>
                <a:rPr b="1" lang="ko" sz="105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· 팀장 / AI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프로젝트 총괄 및 WBS 관리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TMDB API 연동과 영화 데이터 파이프라인 구축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Qdrant 벡터 DB 기반 줄거리 시맨틱 검색 및 추천 API 개발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75" name="Google Shape;75;p16"/>
          <p:cNvGrpSpPr/>
          <p:nvPr/>
        </p:nvGrpSpPr>
        <p:grpSpPr>
          <a:xfrm>
            <a:off x="3333750" y="1714500"/>
            <a:ext cx="2476500" cy="2667000"/>
            <a:chOff x="3333750" y="1714500"/>
            <a:chExt cx="2476500" cy="2667000"/>
          </a:xfrm>
        </p:grpSpPr>
        <p:sp>
          <p:nvSpPr>
            <p:cNvPr id="76" name="Google Shape;76;p16"/>
            <p:cNvSpPr/>
            <p:nvPr/>
          </p:nvSpPr>
          <p:spPr>
            <a:xfrm>
              <a:off x="333375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4304A"/>
            </a:solidFill>
            <a:ln cap="flat" cmpd="sng" w="19050">
              <a:solidFill>
                <a:srgbClr val="2D6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 txBox="1"/>
            <p:nvPr/>
          </p:nvSpPr>
          <p:spPr>
            <a:xfrm>
              <a:off x="3333750" y="1714500"/>
              <a:ext cx="2476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이연화 </a:t>
              </a:r>
              <a:r>
                <a:rPr b="1" lang="ko" sz="105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· Frontend / DB 설계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Oracle DB 모델링 및 ERD·DDL 설계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UI/UX 와이어프레임 기획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메인, 영화 검색, 커뮤니티, 관리자 웹 UI/UX 구현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78" name="Google Shape;78;p16"/>
          <p:cNvGrpSpPr/>
          <p:nvPr/>
        </p:nvGrpSpPr>
        <p:grpSpPr>
          <a:xfrm>
            <a:off x="6134100" y="1714500"/>
            <a:ext cx="2476500" cy="2667000"/>
            <a:chOff x="6134100" y="1714500"/>
            <a:chExt cx="2476500" cy="2667000"/>
          </a:xfrm>
        </p:grpSpPr>
        <p:sp>
          <p:nvSpPr>
            <p:cNvPr id="79" name="Google Shape;79;p16"/>
            <p:cNvSpPr/>
            <p:nvPr/>
          </p:nvSpPr>
          <p:spPr>
            <a:xfrm>
              <a:off x="61341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4304A"/>
            </a:solidFill>
            <a:ln cap="flat" cmpd="sng" w="19050">
              <a:solidFill>
                <a:srgbClr val="2EA6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6134100" y="1714500"/>
              <a:ext cx="2476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조문희 </a:t>
              </a:r>
              <a:r>
                <a:rPr b="1" lang="ko" sz="105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· Backend / API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 세션·CSRF 기반 회원 인증 및 인가 시스템 구현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커뮤니티</a:t>
              </a: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(게시글·댓글·좋아요) 및 영화 추천 REST A</a:t>
              </a: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PI 개발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Noto Sans KR"/>
                <a:buChar char="●"/>
              </a:pPr>
              <a:r>
                <a:rPr b="0" lang="ko" sz="105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관리자(회원 관리, 신고 처리, 감사 로그) API 구현</a:t>
              </a:r>
              <a:endParaRPr b="0" sz="10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81" name="Google Shape;81;p16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Team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533400" y="533400"/>
            <a:ext cx="885900" cy="47700"/>
          </a:xfrm>
          <a:prstGeom prst="rect">
            <a:avLst/>
          </a:prstGeom>
          <a:solidFill>
            <a:srgbClr val="E94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533400" y="762000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rPr>
              <a:t>TABLE OF CONTENTS</a:t>
            </a:r>
            <a:endParaRPr b="1" sz="1100">
              <a:solidFill>
                <a:srgbClr val="E94B7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 b="1" sz="2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88" name="Google Shape;88;p17"/>
          <p:cNvGrpSpPr/>
          <p:nvPr/>
        </p:nvGrpSpPr>
        <p:grpSpPr>
          <a:xfrm>
            <a:off x="533400" y="1619250"/>
            <a:ext cx="8077200" cy="457200"/>
            <a:chOff x="533400" y="1619250"/>
            <a:chExt cx="8077200" cy="457200"/>
          </a:xfrm>
        </p:grpSpPr>
        <p:sp>
          <p:nvSpPr>
            <p:cNvPr id="89" name="Google Shape;89;p17"/>
            <p:cNvSpPr/>
            <p:nvPr/>
          </p:nvSpPr>
          <p:spPr>
            <a:xfrm>
              <a:off x="533400" y="161925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7"/>
            <p:cNvSpPr txBox="1"/>
            <p:nvPr/>
          </p:nvSpPr>
          <p:spPr>
            <a:xfrm>
              <a:off x="723900" y="16192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01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" name="Google Shape;91;p17"/>
            <p:cNvSpPr txBox="1"/>
            <p:nvPr/>
          </p:nvSpPr>
          <p:spPr>
            <a:xfrm>
              <a:off x="1295400" y="161925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프로젝트 개요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2" name="Google Shape;92;p17"/>
          <p:cNvGrpSpPr/>
          <p:nvPr/>
        </p:nvGrpSpPr>
        <p:grpSpPr>
          <a:xfrm>
            <a:off x="533400" y="2171700"/>
            <a:ext cx="8077200" cy="457200"/>
            <a:chOff x="533400" y="2171700"/>
            <a:chExt cx="8077200" cy="457200"/>
          </a:xfrm>
        </p:grpSpPr>
        <p:sp>
          <p:nvSpPr>
            <p:cNvPr id="93" name="Google Shape;93;p17"/>
            <p:cNvSpPr/>
            <p:nvPr/>
          </p:nvSpPr>
          <p:spPr>
            <a:xfrm>
              <a:off x="533400" y="217170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723900" y="217170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02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1295400" y="217170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시스템 아키텍처 &amp; 추천 엔진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6" name="Google Shape;96;p17"/>
          <p:cNvGrpSpPr/>
          <p:nvPr/>
        </p:nvGrpSpPr>
        <p:grpSpPr>
          <a:xfrm>
            <a:off x="533400" y="2724150"/>
            <a:ext cx="8077200" cy="457200"/>
            <a:chOff x="533400" y="2724150"/>
            <a:chExt cx="8077200" cy="457200"/>
          </a:xfrm>
        </p:grpSpPr>
        <p:sp>
          <p:nvSpPr>
            <p:cNvPr id="97" name="Google Shape;97;p17"/>
            <p:cNvSpPr/>
            <p:nvPr/>
          </p:nvSpPr>
          <p:spPr>
            <a:xfrm>
              <a:off x="533400" y="272415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723900" y="27241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03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1295400" y="272415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모델링 (ERD) &amp; 기술 스택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00" name="Google Shape;100;p17"/>
          <p:cNvGrpSpPr/>
          <p:nvPr/>
        </p:nvGrpSpPr>
        <p:grpSpPr>
          <a:xfrm>
            <a:off x="533400" y="3276600"/>
            <a:ext cx="8077200" cy="457200"/>
            <a:chOff x="533400" y="3276600"/>
            <a:chExt cx="8077200" cy="457200"/>
          </a:xfrm>
        </p:grpSpPr>
        <p:sp>
          <p:nvSpPr>
            <p:cNvPr id="101" name="Google Shape;101;p17"/>
            <p:cNvSpPr/>
            <p:nvPr/>
          </p:nvSpPr>
          <p:spPr>
            <a:xfrm>
              <a:off x="533400" y="327660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723900" y="327660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04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1295400" y="327660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주요 기능 및 화면 설계 (UI)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04" name="Google Shape;104;p17"/>
          <p:cNvGrpSpPr/>
          <p:nvPr/>
        </p:nvGrpSpPr>
        <p:grpSpPr>
          <a:xfrm>
            <a:off x="533400" y="3829050"/>
            <a:ext cx="8077200" cy="457200"/>
            <a:chOff x="533400" y="3829050"/>
            <a:chExt cx="8077200" cy="457200"/>
          </a:xfrm>
        </p:grpSpPr>
        <p:sp>
          <p:nvSpPr>
            <p:cNvPr id="105" name="Google Shape;105;p17"/>
            <p:cNvSpPr/>
            <p:nvPr/>
          </p:nvSpPr>
          <p:spPr>
            <a:xfrm>
              <a:off x="533400" y="382905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 txBox="1"/>
            <p:nvPr/>
          </p:nvSpPr>
          <p:spPr>
            <a:xfrm>
              <a:off x="723900" y="38290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05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1295400" y="382905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팀 역할, WBS 및 서비스 시연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08" name="Google Shape;108;p17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INDEX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533400" y="533400"/>
            <a:ext cx="888600" cy="50400"/>
          </a:xfrm>
          <a:prstGeom prst="rect">
            <a:avLst/>
          </a:prstGeom>
          <a:solidFill>
            <a:srgbClr val="E94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533400" y="762000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01. 프로젝트 개요</a:t>
            </a:r>
            <a:endParaRPr b="1" sz="2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ko" sz="12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제목 검색을 넘어, 상황과 감정으로 영화를 탐색하는 경험을 만듭니다.</a:t>
            </a:r>
            <a:endParaRPr b="0" sz="12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15" name="Google Shape;115;p18"/>
          <p:cNvGrpSpPr/>
          <p:nvPr/>
        </p:nvGrpSpPr>
        <p:grpSpPr>
          <a:xfrm>
            <a:off x="533400" y="1809750"/>
            <a:ext cx="2476500" cy="2476500"/>
            <a:chOff x="533400" y="1809750"/>
            <a:chExt cx="2476500" cy="2476500"/>
          </a:xfrm>
        </p:grpSpPr>
        <p:sp>
          <p:nvSpPr>
            <p:cNvPr id="116" name="Google Shape;116;p18"/>
            <p:cNvSpPr/>
            <p:nvPr/>
          </p:nvSpPr>
          <p:spPr>
            <a:xfrm>
              <a:off x="533400" y="1809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24304A"/>
            </a:solidFill>
            <a:ln cap="flat" cmpd="sng" w="19050">
              <a:solidFill>
                <a:srgbClr val="E94B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8"/>
            <p:cNvSpPr txBox="1"/>
            <p:nvPr/>
          </p:nvSpPr>
          <p:spPr>
            <a:xfrm>
              <a:off x="723900" y="20002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문제 정의</a:t>
              </a:r>
              <a:endParaRPr b="1" sz="16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자연어로 표현한 취향은 제목·장르 중심의 단순 검색만으로 찾기 어렵습니다.</a:t>
              </a:r>
              <a:endParaRPr b="0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8" name="Google Shape;118;p18"/>
          <p:cNvGrpSpPr/>
          <p:nvPr/>
        </p:nvGrpSpPr>
        <p:grpSpPr>
          <a:xfrm>
            <a:off x="3333750" y="1809750"/>
            <a:ext cx="2476500" cy="2476500"/>
            <a:chOff x="3333750" y="1809750"/>
            <a:chExt cx="2476500" cy="2476500"/>
          </a:xfrm>
        </p:grpSpPr>
        <p:sp>
          <p:nvSpPr>
            <p:cNvPr id="119" name="Google Shape;119;p18"/>
            <p:cNvSpPr/>
            <p:nvPr/>
          </p:nvSpPr>
          <p:spPr>
            <a:xfrm>
              <a:off x="3333750" y="1809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24304A"/>
            </a:solidFill>
            <a:ln cap="flat" cmpd="sng" w="19050">
              <a:solidFill>
                <a:srgbClr val="2D6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3524250" y="20002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해결 방안</a:t>
              </a:r>
              <a:endParaRPr b="1" sz="16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Oracle 영화 데이터와 Qdrant 시맨틱 검색으로 후보를 만들고 OpenAI가 추천 이유를 정리합니다.</a:t>
              </a:r>
              <a:endParaRPr b="0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21" name="Google Shape;121;p18"/>
          <p:cNvGrpSpPr/>
          <p:nvPr/>
        </p:nvGrpSpPr>
        <p:grpSpPr>
          <a:xfrm>
            <a:off x="6134100" y="1809750"/>
            <a:ext cx="2476500" cy="2476500"/>
            <a:chOff x="6134100" y="1809750"/>
            <a:chExt cx="2476500" cy="2476500"/>
          </a:xfrm>
        </p:grpSpPr>
        <p:sp>
          <p:nvSpPr>
            <p:cNvPr id="122" name="Google Shape;122;p18"/>
            <p:cNvSpPr/>
            <p:nvPr/>
          </p:nvSpPr>
          <p:spPr>
            <a:xfrm>
              <a:off x="6134100" y="1809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24304A"/>
            </a:solidFill>
            <a:ln cap="flat" cmpd="sng" w="19050">
              <a:solidFill>
                <a:srgbClr val="2EA6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6324600" y="20002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목표 가치</a:t>
              </a:r>
              <a:endParaRPr b="1" sz="16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 탐색, 상세 정보, 감상 공유, 댓글과 운영 기능을 하나의 커뮤니티로 연결합니다.</a:t>
              </a:r>
              <a:endParaRPr b="0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24" name="Google Shape;124;p18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01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02. 시스템 아키텍처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Java HttpServer를 중심으로 데이터 저장·벡터 검색·AI 판단을 역할별로 분리했습니다.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30" name="Google Shape;130;p19"/>
          <p:cNvGrpSpPr/>
          <p:nvPr/>
        </p:nvGrpSpPr>
        <p:grpSpPr>
          <a:xfrm>
            <a:off x="533400" y="1476375"/>
            <a:ext cx="8077200" cy="857400"/>
            <a:chOff x="533400" y="1476375"/>
            <a:chExt cx="8077200" cy="857400"/>
          </a:xfrm>
        </p:grpSpPr>
        <p:sp>
          <p:nvSpPr>
            <p:cNvPr id="131" name="Google Shape;131;p19"/>
            <p:cNvSpPr/>
            <p:nvPr/>
          </p:nvSpPr>
          <p:spPr>
            <a:xfrm>
              <a:off x="533400" y="1476375"/>
              <a:ext cx="8077200" cy="857400"/>
            </a:xfrm>
            <a:prstGeom prst="roundRect">
              <a:avLst>
                <a:gd fmla="val 13333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533400" y="147637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 txBox="1"/>
            <p:nvPr/>
          </p:nvSpPr>
          <p:spPr>
            <a:xfrm>
              <a:off x="762000" y="1476375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Presentation Layer</a:t>
              </a:r>
              <a:endParaRPr b="1" sz="14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HTML5 · CSS3 · Vanilla JavaScript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3810000" y="1476375"/>
              <a:ext cx="4572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1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화면 렌더링, fetch 기반 요청, 반응형 커뮤니티 UI</a:t>
              </a:r>
              <a:endParaRPr b="0" sz="11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533400" y="2476500"/>
            <a:ext cx="8077200" cy="857400"/>
            <a:chOff x="533400" y="2476500"/>
            <a:chExt cx="8077200" cy="857400"/>
          </a:xfrm>
        </p:grpSpPr>
        <p:sp>
          <p:nvSpPr>
            <p:cNvPr id="136" name="Google Shape;136;p19"/>
            <p:cNvSpPr/>
            <p:nvPr/>
          </p:nvSpPr>
          <p:spPr>
            <a:xfrm>
              <a:off x="533400" y="2476500"/>
              <a:ext cx="8077200" cy="857400"/>
            </a:xfrm>
            <a:prstGeom prst="roundRect">
              <a:avLst>
                <a:gd fmla="val 13333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533400" y="24765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 txBox="1"/>
            <p:nvPr/>
          </p:nvSpPr>
          <p:spPr>
            <a:xfrm>
              <a:off x="762000" y="24765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Application Layer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 17 · JDK HttpServer · JDBC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9" name="Google Shape;139;p19"/>
            <p:cNvSpPr txBox="1"/>
            <p:nvPr/>
          </p:nvSpPr>
          <p:spPr>
            <a:xfrm>
              <a:off x="3810000" y="2476500"/>
              <a:ext cx="4572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1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세션 인증, 역할 기반 권한, CSRF 토큰, 입력값 이스케이프</a:t>
              </a:r>
              <a:endParaRPr b="0" sz="11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40" name="Google Shape;140;p19"/>
          <p:cNvGrpSpPr/>
          <p:nvPr/>
        </p:nvGrpSpPr>
        <p:grpSpPr>
          <a:xfrm>
            <a:off x="533400" y="3476625"/>
            <a:ext cx="8077200" cy="857400"/>
            <a:chOff x="533400" y="3476625"/>
            <a:chExt cx="8077200" cy="857400"/>
          </a:xfrm>
        </p:grpSpPr>
        <p:sp>
          <p:nvSpPr>
            <p:cNvPr id="141" name="Google Shape;141;p19"/>
            <p:cNvSpPr/>
            <p:nvPr/>
          </p:nvSpPr>
          <p:spPr>
            <a:xfrm>
              <a:off x="533400" y="3476625"/>
              <a:ext cx="8077200" cy="857400"/>
            </a:xfrm>
            <a:prstGeom prst="roundRect">
              <a:avLst>
                <a:gd fmla="val 13333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533400" y="347662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762000" y="3476625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 &amp; AI Layer</a:t>
              </a:r>
              <a:endParaRPr b="1" sz="14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Oracle XE · TMDB · Qdrant · OpenAI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4" name="Google Shape;144;p19"/>
            <p:cNvSpPr txBox="1"/>
            <p:nvPr/>
          </p:nvSpPr>
          <p:spPr>
            <a:xfrm>
              <a:off x="3810000" y="3476625"/>
              <a:ext cx="4572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1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영화·커뮤니티 저장, 시맨틱 검색, 최종 추천과 이유 생성</a:t>
              </a:r>
              <a:endParaRPr b="0" sz="11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5" name="Google Shape;145;p19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02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02. 시스템 아키텍처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03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213" y="945850"/>
            <a:ext cx="7571576" cy="36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03. 하이브리드 추천 엔진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DB와 RAG가 후보를 찾고, OpenAI가 후보 중 한 편과 추천 이유를 선택합니다.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58" name="Google Shape;158;p21"/>
          <p:cNvGrpSpPr/>
          <p:nvPr/>
        </p:nvGrpSpPr>
        <p:grpSpPr>
          <a:xfrm>
            <a:off x="533400" y="1524000"/>
            <a:ext cx="2476500" cy="2190900"/>
            <a:chOff x="533400" y="1524000"/>
            <a:chExt cx="2476500" cy="2190900"/>
          </a:xfrm>
        </p:grpSpPr>
        <p:sp>
          <p:nvSpPr>
            <p:cNvPr id="159" name="Google Shape;159;p21"/>
            <p:cNvSpPr/>
            <p:nvPr/>
          </p:nvSpPr>
          <p:spPr>
            <a:xfrm>
              <a:off x="53340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24304A"/>
            </a:solidFill>
            <a:ln cap="flat" cmpd="sng" w="14300">
              <a:solidFill>
                <a:srgbClr val="2D6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1"/>
            <p:cNvSpPr txBox="1"/>
            <p:nvPr/>
          </p:nvSpPr>
          <p:spPr>
            <a:xfrm>
              <a:off x="723900" y="1714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 후보 수집</a:t>
              </a:r>
              <a:endParaRPr b="1" sz="14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Oracle 키워드 검색과 Qdrant 줄거리 시맨틱 검색 결과를 결합해 최대 10편의 후보를 구성합니다.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61" name="Google Shape;161;p21"/>
          <p:cNvGrpSpPr/>
          <p:nvPr/>
        </p:nvGrpSpPr>
        <p:grpSpPr>
          <a:xfrm>
            <a:off x="3333750" y="1524000"/>
            <a:ext cx="2476500" cy="2190900"/>
            <a:chOff x="3333750" y="1524000"/>
            <a:chExt cx="2476500" cy="2190900"/>
          </a:xfrm>
        </p:grpSpPr>
        <p:sp>
          <p:nvSpPr>
            <p:cNvPr id="162" name="Google Shape;162;p21"/>
            <p:cNvSpPr/>
            <p:nvPr/>
          </p:nvSpPr>
          <p:spPr>
            <a:xfrm>
              <a:off x="333375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24304A"/>
            </a:solidFill>
            <a:ln cap="flat" cmpd="sng" w="14300">
              <a:solidFill>
                <a:srgbClr val="E94B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3524250" y="1714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2. 최종 추천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OpenAI Responses API가 후보 중 한 편을 고르고, 사용자의 자연어 요청에 맞춘 한국어 추천 이유를 생성합니다.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64" name="Google Shape;164;p21"/>
          <p:cNvGrpSpPr/>
          <p:nvPr/>
        </p:nvGrpSpPr>
        <p:grpSpPr>
          <a:xfrm>
            <a:off x="6134100" y="1524000"/>
            <a:ext cx="2476500" cy="2190900"/>
            <a:chOff x="6134100" y="1524000"/>
            <a:chExt cx="2476500" cy="2190900"/>
          </a:xfrm>
        </p:grpSpPr>
        <p:sp>
          <p:nvSpPr>
            <p:cNvPr id="165" name="Google Shape;165;p21"/>
            <p:cNvSpPr/>
            <p:nvPr/>
          </p:nvSpPr>
          <p:spPr>
            <a:xfrm>
              <a:off x="613410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24304A"/>
            </a:solidFill>
            <a:ln cap="flat" cmpd="sng" w="14300">
              <a:solidFill>
                <a:srgbClr val="2EA6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6324600" y="1714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3. 안전한 폴백</a:t>
              </a:r>
              <a:endParaRPr b="1" sz="14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외부 AI 호출에 실패해도 DB·RAG 후보 결과를 반환합니다. 랜덤 추천도 DB 후보에서 선택합니다.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67" name="Google Shape;167;p21"/>
          <p:cNvGrpSpPr/>
          <p:nvPr/>
        </p:nvGrpSpPr>
        <p:grpSpPr>
          <a:xfrm>
            <a:off x="533400" y="3905250"/>
            <a:ext cx="8077200" cy="571500"/>
            <a:chOff x="533400" y="3905250"/>
            <a:chExt cx="8077200" cy="571500"/>
          </a:xfrm>
        </p:grpSpPr>
        <p:sp>
          <p:nvSpPr>
            <p:cNvPr id="168" name="Google Shape;168;p21"/>
            <p:cNvSpPr/>
            <p:nvPr/>
          </p:nvSpPr>
          <p:spPr>
            <a:xfrm>
              <a:off x="533400" y="3905250"/>
              <a:ext cx="80772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533400" y="3905250"/>
              <a:ext cx="807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자연어 질의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➔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DB + RAG 후보군 생성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➔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OpenAI 최종 선택 + 추천 이유</a:t>
              </a:r>
              <a:endParaRPr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70" name="Google Shape;170;p21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</a:t>
            </a: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04. 핵심 기능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영화 탐색부터 커뮤니티와 관리자 운영까지의 흐름을 제공합니다.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76" name="Google Shape;176;p22"/>
          <p:cNvGrpSpPr/>
          <p:nvPr/>
        </p:nvGrpSpPr>
        <p:grpSpPr>
          <a:xfrm>
            <a:off x="533400" y="1476375"/>
            <a:ext cx="8077200" cy="2952825"/>
            <a:chOff x="533400" y="1476375"/>
            <a:chExt cx="8077200" cy="2952825"/>
          </a:xfrm>
        </p:grpSpPr>
        <p:sp>
          <p:nvSpPr>
            <p:cNvPr id="177" name="Google Shape;177;p22"/>
            <p:cNvSpPr/>
            <p:nvPr/>
          </p:nvSpPr>
          <p:spPr>
            <a:xfrm>
              <a:off x="533400" y="1476375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533400" y="1476375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2"/>
            <p:cNvSpPr txBox="1"/>
            <p:nvPr/>
          </p:nvSpPr>
          <p:spPr>
            <a:xfrm>
              <a:off x="723900" y="1476375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 탐색</a:t>
              </a:r>
              <a:endParaRPr b="1" sz="13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자연어 영화 검색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키워드 및 랜덤 추천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상세 페이지 정보 제공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3295650" y="1476375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3295650" y="1476375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2"/>
            <p:cNvSpPr txBox="1"/>
            <p:nvPr/>
          </p:nvSpPr>
          <p:spPr>
            <a:xfrm>
              <a:off x="3486150" y="1476375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커뮤니티</a:t>
              </a:r>
              <a:endParaRPr b="1" sz="13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공지 및 자유게시판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영화 추천 게시판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댓글 및 좋아요 기능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3" name="Google Shape;183;p22"/>
            <p:cNvSpPr/>
            <p:nvPr/>
          </p:nvSpPr>
          <p:spPr>
            <a:xfrm>
              <a:off x="6057900" y="1476375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6057900" y="1476375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 txBox="1"/>
            <p:nvPr/>
          </p:nvSpPr>
          <p:spPr>
            <a:xfrm>
              <a:off x="6248400" y="1476375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개인화</a:t>
              </a:r>
              <a:endParaRPr b="1" sz="13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회원별 조회수 집계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마이페이지 관리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533400" y="3048000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533400" y="3048000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2"/>
            <p:cNvSpPr txBox="1"/>
            <p:nvPr/>
          </p:nvSpPr>
          <p:spPr>
            <a:xfrm>
              <a:off x="723900" y="3048000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관리자 기능</a:t>
              </a:r>
              <a:endParaRPr b="1" sz="13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회원 상태 일괄 관리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신고 및 게시글 제어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작업 감사 로그 기록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3295650" y="3048000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3295650" y="3048000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2"/>
            <p:cNvSpPr txBox="1"/>
            <p:nvPr/>
          </p:nvSpPr>
          <p:spPr>
            <a:xfrm>
              <a:off x="3486150" y="3048000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보안</a:t>
              </a:r>
              <a:endParaRPr b="1" sz="13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세션 기반 사용자 인증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역할 기반 권한 제어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CSRF 방어 및 로그인 제한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6057900" y="3048000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6057900" y="3048000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6248400" y="3048000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파이프라인</a:t>
              </a:r>
              <a:endParaRPr b="1" sz="13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TMDB 영화 정보 수집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Oracle DB 영속화 저장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Qdrant 벡터 색인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95" name="Google Shape;195;p22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05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/>
        </p:nvSpPr>
        <p:spPr>
          <a:xfrm>
            <a:off x="533400" y="381000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05. 데이터 모델링 (ERD)</a:t>
            </a:r>
            <a:endParaRPr b="1" sz="12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533400" y="809625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영화·커뮤니티·운영 데이터를 분리하고 관계를 통해 연결했습니다.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02" name="Google Shape;202;p23"/>
          <p:cNvGrpSpPr/>
          <p:nvPr/>
        </p:nvGrpSpPr>
        <p:grpSpPr>
          <a:xfrm>
            <a:off x="533400" y="1381125"/>
            <a:ext cx="2552700" cy="1285800"/>
            <a:chOff x="533400" y="1381125"/>
            <a:chExt cx="2552700" cy="1285800"/>
          </a:xfrm>
        </p:grpSpPr>
        <p:sp>
          <p:nvSpPr>
            <p:cNvPr id="203" name="Google Shape;203;p23"/>
            <p:cNvSpPr/>
            <p:nvPr/>
          </p:nvSpPr>
          <p:spPr>
            <a:xfrm>
              <a:off x="533400" y="1381125"/>
              <a:ext cx="2552700" cy="1285800"/>
            </a:xfrm>
            <a:prstGeom prst="roundRect">
              <a:avLst>
                <a:gd fmla="val 888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533400" y="1381125"/>
              <a:ext cx="47700" cy="12858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3"/>
            <p:cNvSpPr txBox="1"/>
            <p:nvPr/>
          </p:nvSpPr>
          <p:spPr>
            <a:xfrm>
              <a:off x="723900" y="1381125"/>
              <a:ext cx="22671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USERS</a:t>
              </a:r>
              <a:endParaRPr b="1" sz="12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회원 식별자, password_hash, 닉네임, 권한(ROLE), 상태(STATUS)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06" name="Google Shape;206;p23"/>
          <p:cNvGrpSpPr/>
          <p:nvPr/>
        </p:nvGrpSpPr>
        <p:grpSpPr>
          <a:xfrm>
            <a:off x="3295650" y="1381125"/>
            <a:ext cx="2552700" cy="1285800"/>
            <a:chOff x="3295650" y="1381125"/>
            <a:chExt cx="2552700" cy="1285800"/>
          </a:xfrm>
        </p:grpSpPr>
        <p:sp>
          <p:nvSpPr>
            <p:cNvPr id="207" name="Google Shape;207;p23"/>
            <p:cNvSpPr/>
            <p:nvPr/>
          </p:nvSpPr>
          <p:spPr>
            <a:xfrm>
              <a:off x="3295650" y="1381125"/>
              <a:ext cx="2552700" cy="1285800"/>
            </a:xfrm>
            <a:prstGeom prst="roundRect">
              <a:avLst>
                <a:gd fmla="val 888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3295650" y="1381125"/>
              <a:ext cx="47700" cy="12858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3486150" y="1381125"/>
              <a:ext cx="22671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MOVIES</a:t>
              </a:r>
              <a:endParaRPr b="1" sz="12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내부 movie_id PK, TMDB tmdb_id UNIQUE, 제목, 줄거리, 포스터, 평점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10" name="Google Shape;210;p23"/>
          <p:cNvGrpSpPr/>
          <p:nvPr/>
        </p:nvGrpSpPr>
        <p:grpSpPr>
          <a:xfrm>
            <a:off x="6057900" y="1381125"/>
            <a:ext cx="2552700" cy="1285800"/>
            <a:chOff x="6057900" y="1381125"/>
            <a:chExt cx="2552700" cy="1285800"/>
          </a:xfrm>
        </p:grpSpPr>
        <p:sp>
          <p:nvSpPr>
            <p:cNvPr id="211" name="Google Shape;211;p23"/>
            <p:cNvSpPr/>
            <p:nvPr/>
          </p:nvSpPr>
          <p:spPr>
            <a:xfrm>
              <a:off x="6057900" y="1381125"/>
              <a:ext cx="2552700" cy="1285800"/>
            </a:xfrm>
            <a:prstGeom prst="roundRect">
              <a:avLst>
                <a:gd fmla="val 888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6057900" y="1381125"/>
              <a:ext cx="47700" cy="12858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3"/>
            <p:cNvSpPr txBox="1"/>
            <p:nvPr/>
          </p:nvSpPr>
          <p:spPr>
            <a:xfrm>
              <a:off x="6248400" y="1381125"/>
              <a:ext cx="22671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POSTS / COMMENTS</a:t>
              </a:r>
              <a:endParaRPr b="1" sz="12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게시글·댓글·좋아요·회원별 조회수, parent_comment_id 관계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14" name="Google Shape;214;p23"/>
          <p:cNvGrpSpPr/>
          <p:nvPr/>
        </p:nvGrpSpPr>
        <p:grpSpPr>
          <a:xfrm>
            <a:off x="533400" y="2857500"/>
            <a:ext cx="3905400" cy="1143000"/>
            <a:chOff x="533400" y="2857500"/>
            <a:chExt cx="3905400" cy="1143000"/>
          </a:xfrm>
        </p:grpSpPr>
        <p:sp>
          <p:nvSpPr>
            <p:cNvPr id="215" name="Google Shape;215;p23"/>
            <p:cNvSpPr/>
            <p:nvPr/>
          </p:nvSpPr>
          <p:spPr>
            <a:xfrm>
              <a:off x="533400" y="2857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533400" y="2857500"/>
              <a:ext cx="47700" cy="11430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3"/>
            <p:cNvSpPr txBox="1"/>
            <p:nvPr/>
          </p:nvSpPr>
          <p:spPr>
            <a:xfrm>
              <a:off x="723900" y="2857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REPORTS / ADMIN_LOGS</a:t>
              </a:r>
              <a:endParaRPr b="1" sz="12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신고 상태, 관리자 처리 이력, 로그인 및 운영 감사 로그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18" name="Google Shape;218;p23"/>
          <p:cNvGrpSpPr/>
          <p:nvPr/>
        </p:nvGrpSpPr>
        <p:grpSpPr>
          <a:xfrm>
            <a:off x="4705350" y="2857500"/>
            <a:ext cx="3905400" cy="1143000"/>
            <a:chOff x="4705350" y="2857500"/>
            <a:chExt cx="3905400" cy="1143000"/>
          </a:xfrm>
        </p:grpSpPr>
        <p:sp>
          <p:nvSpPr>
            <p:cNvPr id="219" name="Google Shape;219;p23"/>
            <p:cNvSpPr/>
            <p:nvPr/>
          </p:nvSpPr>
          <p:spPr>
            <a:xfrm>
              <a:off x="4705350" y="2857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4705350" y="2857500"/>
              <a:ext cx="47700" cy="11430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 txBox="1"/>
            <p:nvPr/>
          </p:nvSpPr>
          <p:spPr>
            <a:xfrm>
              <a:off x="4895850" y="2857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MOVIE_GENRES / MOVIE_LIKES</a:t>
              </a:r>
              <a:endParaRPr b="1" sz="12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영화-장르 다대다 관계와 회원 영화 찜 상태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06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/>
        </p:nvSpPr>
        <p:spPr>
          <a:xfrm>
            <a:off x="533400" y="381000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05. 데이터 모델링 (ERD)</a:t>
            </a:r>
            <a:endParaRPr b="1" sz="12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533400" y="809625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07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0" name="Google Shape;230;p24" title="e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0963" y="809625"/>
            <a:ext cx="5482063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06. 기술 스택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구현에 사용 중인 기술만 정리했습니다.</a:t>
            </a:r>
            <a:endParaRPr b="0" sz="1100">
              <a:solidFill>
                <a:srgbClr val="94A3B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36" name="Google Shape;236;p25"/>
          <p:cNvGrpSpPr/>
          <p:nvPr/>
        </p:nvGrpSpPr>
        <p:grpSpPr>
          <a:xfrm>
            <a:off x="533400" y="1428750"/>
            <a:ext cx="2552700" cy="1428900"/>
            <a:chOff x="533400" y="1428750"/>
            <a:chExt cx="2552700" cy="1428900"/>
          </a:xfrm>
        </p:grpSpPr>
        <p:sp>
          <p:nvSpPr>
            <p:cNvPr id="237" name="Google Shape;237;p25"/>
            <p:cNvSpPr/>
            <p:nvPr/>
          </p:nvSpPr>
          <p:spPr>
            <a:xfrm>
              <a:off x="533400" y="1428750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>
              <a:off x="533400" y="1428750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 txBox="1"/>
            <p:nvPr/>
          </p:nvSpPr>
          <p:spPr>
            <a:xfrm>
              <a:off x="723900" y="1428750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Backend</a:t>
              </a:r>
              <a:endParaRPr b="1" sz="12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Java 17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JDK HttpServer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JDBC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40" name="Google Shape;240;p25"/>
          <p:cNvGrpSpPr/>
          <p:nvPr/>
        </p:nvGrpSpPr>
        <p:grpSpPr>
          <a:xfrm>
            <a:off x="3295650" y="1428750"/>
            <a:ext cx="2552700" cy="1428900"/>
            <a:chOff x="3295650" y="1428750"/>
            <a:chExt cx="2552700" cy="1428900"/>
          </a:xfrm>
        </p:grpSpPr>
        <p:sp>
          <p:nvSpPr>
            <p:cNvPr id="241" name="Google Shape;241;p25"/>
            <p:cNvSpPr/>
            <p:nvPr/>
          </p:nvSpPr>
          <p:spPr>
            <a:xfrm>
              <a:off x="3295650" y="1428750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5"/>
            <p:cNvSpPr/>
            <p:nvPr/>
          </p:nvSpPr>
          <p:spPr>
            <a:xfrm>
              <a:off x="3295650" y="1428750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5"/>
            <p:cNvSpPr txBox="1"/>
            <p:nvPr/>
          </p:nvSpPr>
          <p:spPr>
            <a:xfrm>
              <a:off x="3486150" y="1428750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43F5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Authentication &amp; Security</a:t>
              </a:r>
              <a:endParaRPr b="1" sz="120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세션 기반 인증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역할 권한 / CSRF 토큰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입력값 이스케이프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44" name="Google Shape;244;p25"/>
          <p:cNvGrpSpPr/>
          <p:nvPr/>
        </p:nvGrpSpPr>
        <p:grpSpPr>
          <a:xfrm>
            <a:off x="6057900" y="1428750"/>
            <a:ext cx="2552700" cy="1428900"/>
            <a:chOff x="6057900" y="1428750"/>
            <a:chExt cx="2552700" cy="1428900"/>
          </a:xfrm>
        </p:grpSpPr>
        <p:sp>
          <p:nvSpPr>
            <p:cNvPr id="245" name="Google Shape;245;p25"/>
            <p:cNvSpPr/>
            <p:nvPr/>
          </p:nvSpPr>
          <p:spPr>
            <a:xfrm>
              <a:off x="6057900" y="1428750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6057900" y="1428750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5"/>
            <p:cNvSpPr txBox="1"/>
            <p:nvPr/>
          </p:nvSpPr>
          <p:spPr>
            <a:xfrm>
              <a:off x="6248400" y="1428750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Database</a:t>
              </a:r>
              <a:endParaRPr b="1" sz="12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Oracle XE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JDBC 연동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48" name="Google Shape;248;p25"/>
          <p:cNvGrpSpPr/>
          <p:nvPr/>
        </p:nvGrpSpPr>
        <p:grpSpPr>
          <a:xfrm>
            <a:off x="533400" y="3000375"/>
            <a:ext cx="2552700" cy="1428900"/>
            <a:chOff x="533400" y="3000375"/>
            <a:chExt cx="2552700" cy="1428900"/>
          </a:xfrm>
        </p:grpSpPr>
        <p:sp>
          <p:nvSpPr>
            <p:cNvPr id="249" name="Google Shape;249;p25"/>
            <p:cNvSpPr/>
            <p:nvPr/>
          </p:nvSpPr>
          <p:spPr>
            <a:xfrm>
              <a:off x="533400" y="3000375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533400" y="3000375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5"/>
            <p:cNvSpPr txBox="1"/>
            <p:nvPr/>
          </p:nvSpPr>
          <p:spPr>
            <a:xfrm>
              <a:off x="72390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43F5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&amp; Search</a:t>
              </a:r>
              <a:endParaRPr b="1" sz="120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Qdrant Vector DB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RAG 시맨틱 검색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OpenAI Responses API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52" name="Google Shape;252;p25"/>
          <p:cNvGrpSpPr/>
          <p:nvPr/>
        </p:nvGrpSpPr>
        <p:grpSpPr>
          <a:xfrm>
            <a:off x="3295650" y="3000375"/>
            <a:ext cx="2552700" cy="1428900"/>
            <a:chOff x="3295650" y="3000375"/>
            <a:chExt cx="2552700" cy="1428900"/>
          </a:xfrm>
        </p:grpSpPr>
        <p:sp>
          <p:nvSpPr>
            <p:cNvPr id="253" name="Google Shape;253;p25"/>
            <p:cNvSpPr/>
            <p:nvPr/>
          </p:nvSpPr>
          <p:spPr>
            <a:xfrm>
              <a:off x="3295650" y="3000375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3295650" y="3000375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5"/>
            <p:cNvSpPr txBox="1"/>
            <p:nvPr/>
          </p:nvSpPr>
          <p:spPr>
            <a:xfrm>
              <a:off x="348615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 Pipeline</a:t>
              </a:r>
              <a:endParaRPr b="1" sz="12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TMDB API 수집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영화 메타데이터 처리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Qdrant 인덱싱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6057900" y="3000375"/>
            <a:ext cx="2552700" cy="1428900"/>
            <a:chOff x="6057900" y="3000375"/>
            <a:chExt cx="2552700" cy="1428900"/>
          </a:xfrm>
        </p:grpSpPr>
        <p:sp>
          <p:nvSpPr>
            <p:cNvPr id="257" name="Google Shape;257;p25"/>
            <p:cNvSpPr/>
            <p:nvPr/>
          </p:nvSpPr>
          <p:spPr>
            <a:xfrm>
              <a:off x="6057900" y="3000375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057900" y="3000375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5"/>
            <p:cNvSpPr txBox="1"/>
            <p:nvPr/>
          </p:nvSpPr>
          <p:spPr>
            <a:xfrm>
              <a:off x="624840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43F5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Frontend &amp; Delivery</a:t>
              </a:r>
              <a:endParaRPr b="1" sz="120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HTML5 / CSS3 / Vanilla JS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GitHub / README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DBML 설계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60" name="Google Shape;260;p25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08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/>
        </p:nvSpPr>
        <p:spPr>
          <a:xfrm>
            <a:off x="533400" y="428625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07. 팀 역할 및 WBS 마일스톤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533400" y="857250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설계부터 구현·테스트까지 역할을 나누고 기능을 통합했습니다.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</a:t>
            </a: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68" name="Google Shape;268;p26"/>
          <p:cNvGrpSpPr/>
          <p:nvPr/>
        </p:nvGrpSpPr>
        <p:grpSpPr>
          <a:xfrm>
            <a:off x="533400" y="1428750"/>
            <a:ext cx="3924300" cy="1333500"/>
            <a:chOff x="533400" y="1428750"/>
            <a:chExt cx="3924300" cy="1333500"/>
          </a:xfrm>
        </p:grpSpPr>
        <p:sp>
          <p:nvSpPr>
            <p:cNvPr id="269" name="Google Shape;269;p26"/>
            <p:cNvSpPr/>
            <p:nvPr/>
          </p:nvSpPr>
          <p:spPr>
            <a:xfrm>
              <a:off x="533400" y="1428750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533400" y="1428750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6"/>
            <p:cNvSpPr txBox="1"/>
            <p:nvPr/>
          </p:nvSpPr>
          <p:spPr>
            <a:xfrm>
              <a:off x="723900" y="1428750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1단계</a:t>
              </a:r>
              <a:endParaRPr b="1" sz="10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기획 &amp; 설계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요구사항 정의, UI/UX 와이어프레임, Oracle DBML·ERD 설계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72" name="Google Shape;272;p26"/>
          <p:cNvGrpSpPr/>
          <p:nvPr/>
        </p:nvGrpSpPr>
        <p:grpSpPr>
          <a:xfrm>
            <a:off x="4686300" y="1428750"/>
            <a:ext cx="3924300" cy="1333500"/>
            <a:chOff x="4686300" y="1428750"/>
            <a:chExt cx="3924300" cy="1333500"/>
          </a:xfrm>
        </p:grpSpPr>
        <p:sp>
          <p:nvSpPr>
            <p:cNvPr id="273" name="Google Shape;273;p26"/>
            <p:cNvSpPr/>
            <p:nvPr/>
          </p:nvSpPr>
          <p:spPr>
            <a:xfrm>
              <a:off x="4686300" y="1428750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4686300" y="1428750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 txBox="1"/>
            <p:nvPr/>
          </p:nvSpPr>
          <p:spPr>
            <a:xfrm>
              <a:off x="4876800" y="1428750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2단계</a:t>
              </a:r>
              <a:endParaRPr b="1" sz="10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백엔드 &amp; AI 개발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 세션·권한·CSRF, TMDB 수집, Qdrant RAG, OpenAI 추천 연동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76" name="Google Shape;276;p26"/>
          <p:cNvGrpSpPr/>
          <p:nvPr/>
        </p:nvGrpSpPr>
        <p:grpSpPr>
          <a:xfrm>
            <a:off x="533400" y="3000375"/>
            <a:ext cx="3924300" cy="1333500"/>
            <a:chOff x="533400" y="3000375"/>
            <a:chExt cx="3924300" cy="1333500"/>
          </a:xfrm>
        </p:grpSpPr>
        <p:sp>
          <p:nvSpPr>
            <p:cNvPr id="277" name="Google Shape;277;p26"/>
            <p:cNvSpPr/>
            <p:nvPr/>
          </p:nvSpPr>
          <p:spPr>
            <a:xfrm>
              <a:off x="533400" y="3000375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533400" y="3000375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6"/>
            <p:cNvSpPr txBox="1"/>
            <p:nvPr/>
          </p:nvSpPr>
          <p:spPr>
            <a:xfrm>
              <a:off x="723900" y="3000375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3단계</a:t>
              </a:r>
              <a:endParaRPr b="1" sz="10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프론트엔드 연동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HTML/CSS/JavaScript 화면, 영화 검색·커뮤니티·관리자 UI 연결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80" name="Google Shape;280;p26"/>
          <p:cNvGrpSpPr/>
          <p:nvPr/>
        </p:nvGrpSpPr>
        <p:grpSpPr>
          <a:xfrm>
            <a:off x="4686300" y="3000375"/>
            <a:ext cx="3924300" cy="1333500"/>
            <a:chOff x="4686300" y="3000375"/>
            <a:chExt cx="3924300" cy="1333500"/>
          </a:xfrm>
        </p:grpSpPr>
        <p:sp>
          <p:nvSpPr>
            <p:cNvPr id="281" name="Google Shape;281;p26"/>
            <p:cNvSpPr/>
            <p:nvPr/>
          </p:nvSpPr>
          <p:spPr>
            <a:xfrm>
              <a:off x="4686300" y="3000375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686300" y="3000375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 txBox="1"/>
            <p:nvPr/>
          </p:nvSpPr>
          <p:spPr>
            <a:xfrm>
              <a:off x="4876800" y="3000375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4단계</a:t>
              </a:r>
              <a:endParaRPr b="1" sz="10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테스트 &amp; 최적화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기능 QA, 권한 검증, 데이터·추천 응답 점검, 발표 자료 정리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/>
        </p:nvSpPr>
        <p:spPr>
          <a:xfrm>
            <a:off x="533400" y="428625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08. 한계점 및 개선 과제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533400" y="857250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아키텍처와 기능의 한계를 파악하고, 구체적인 고도화 방안을 설계했습니다.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</a:t>
            </a: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91" name="Google Shape;291;p27"/>
          <p:cNvGrpSpPr/>
          <p:nvPr/>
        </p:nvGrpSpPr>
        <p:grpSpPr>
          <a:xfrm>
            <a:off x="533400" y="1333500"/>
            <a:ext cx="3924300" cy="1447800"/>
            <a:chOff x="533400" y="1333500"/>
            <a:chExt cx="3924300" cy="1447800"/>
          </a:xfrm>
        </p:grpSpPr>
        <p:sp>
          <p:nvSpPr>
            <p:cNvPr id="292" name="Google Shape;292;p27"/>
            <p:cNvSpPr/>
            <p:nvPr/>
          </p:nvSpPr>
          <p:spPr>
            <a:xfrm>
              <a:off x="533400" y="1333500"/>
              <a:ext cx="3924300" cy="1447800"/>
            </a:xfrm>
            <a:prstGeom prst="roundRect">
              <a:avLst>
                <a:gd fmla="val 789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3400" y="1333500"/>
              <a:ext cx="47700" cy="14478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 txBox="1"/>
            <p:nvPr/>
          </p:nvSpPr>
          <p:spPr>
            <a:xfrm>
              <a:off x="723900" y="1333500"/>
              <a:ext cx="3543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TASK 01</a:t>
              </a:r>
              <a:endParaRPr b="1" sz="9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추천 및 파이프라인 한계</a:t>
              </a:r>
              <a:endParaRPr b="1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Current:</a:t>
              </a: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단발성 자연어 질의와 줄거리 유사도에만 의존해 유저 활동 이력 미반영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Improvement:</a:t>
              </a:r>
              <a:r>
                <a:rPr b="0" lang="ko" sz="95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인터랙션 로그 벡터 결합 및 협업 필터링 레이어 도입</a:t>
              </a:r>
              <a:endParaRPr b="0" sz="95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95" name="Google Shape;295;p27"/>
          <p:cNvGrpSpPr/>
          <p:nvPr/>
        </p:nvGrpSpPr>
        <p:grpSpPr>
          <a:xfrm>
            <a:off x="4686300" y="1333500"/>
            <a:ext cx="3924300" cy="1447800"/>
            <a:chOff x="4686300" y="1333500"/>
            <a:chExt cx="3924300" cy="1447800"/>
          </a:xfrm>
        </p:grpSpPr>
        <p:sp>
          <p:nvSpPr>
            <p:cNvPr id="296" name="Google Shape;296;p27"/>
            <p:cNvSpPr/>
            <p:nvPr/>
          </p:nvSpPr>
          <p:spPr>
            <a:xfrm>
              <a:off x="4686300" y="1333500"/>
              <a:ext cx="3924300" cy="1447800"/>
            </a:xfrm>
            <a:prstGeom prst="roundRect">
              <a:avLst>
                <a:gd fmla="val 789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4686300" y="1333500"/>
              <a:ext cx="47700" cy="14478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7"/>
            <p:cNvSpPr txBox="1"/>
            <p:nvPr/>
          </p:nvSpPr>
          <p:spPr>
            <a:xfrm>
              <a:off x="4876800" y="1333500"/>
              <a:ext cx="3543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TASK 02</a:t>
              </a:r>
              <a:endParaRPr b="1" sz="9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외부 API 레이턴시 및 비용 한계</a:t>
              </a:r>
              <a:endParaRPr b="1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Current:</a:t>
              </a: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매 요청마다 OpenAI/Qdrant 호출로 1~2초 지연 및 비용 발생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Improvement:</a:t>
              </a:r>
              <a:r>
                <a:rPr b="0" lang="ko" sz="95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Redis 캐시 계층 구축을 통한 동일·유사 질의 캐싱</a:t>
              </a:r>
              <a:endParaRPr b="0" sz="95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99" name="Google Shape;299;p27"/>
          <p:cNvGrpSpPr/>
          <p:nvPr/>
        </p:nvGrpSpPr>
        <p:grpSpPr>
          <a:xfrm>
            <a:off x="533400" y="2933700"/>
            <a:ext cx="3924300" cy="1447800"/>
            <a:chOff x="533400" y="2933700"/>
            <a:chExt cx="3924300" cy="1447800"/>
          </a:xfrm>
        </p:grpSpPr>
        <p:sp>
          <p:nvSpPr>
            <p:cNvPr id="300" name="Google Shape;300;p27"/>
            <p:cNvSpPr/>
            <p:nvPr/>
          </p:nvSpPr>
          <p:spPr>
            <a:xfrm>
              <a:off x="533400" y="2933700"/>
              <a:ext cx="3924300" cy="1447800"/>
            </a:xfrm>
            <a:prstGeom prst="roundRect">
              <a:avLst>
                <a:gd fmla="val 789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533400" y="2933700"/>
              <a:ext cx="47700" cy="14478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7"/>
            <p:cNvSpPr txBox="1"/>
            <p:nvPr/>
          </p:nvSpPr>
          <p:spPr>
            <a:xfrm>
              <a:off x="723900" y="2933700"/>
              <a:ext cx="3543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TASK 03</a:t>
              </a:r>
              <a:endParaRPr b="1" sz="9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아키텍처 및 확장성 한계</a:t>
              </a:r>
              <a:endParaRPr b="1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Current:</a:t>
              </a: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JDK HttpServer와 인메모리 세션 사용으로 분산 세션 동기화 한계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Improvement:</a:t>
              </a:r>
              <a:r>
                <a:rPr b="0" lang="ko" sz="95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Spring Boot 마이그레이션, HikariCP, 분산 세션(Redis) 도입</a:t>
              </a:r>
              <a:endParaRPr b="0" sz="95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03" name="Google Shape;303;p27"/>
          <p:cNvGrpSpPr/>
          <p:nvPr/>
        </p:nvGrpSpPr>
        <p:grpSpPr>
          <a:xfrm>
            <a:off x="4686300" y="2933700"/>
            <a:ext cx="3924300" cy="1447800"/>
            <a:chOff x="4686300" y="2933700"/>
            <a:chExt cx="3924300" cy="1447800"/>
          </a:xfrm>
        </p:grpSpPr>
        <p:sp>
          <p:nvSpPr>
            <p:cNvPr id="304" name="Google Shape;304;p27"/>
            <p:cNvSpPr/>
            <p:nvPr/>
          </p:nvSpPr>
          <p:spPr>
            <a:xfrm>
              <a:off x="4686300" y="2933700"/>
              <a:ext cx="3924300" cy="1447800"/>
            </a:xfrm>
            <a:prstGeom prst="roundRect">
              <a:avLst>
                <a:gd fmla="val 789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4686300" y="2933700"/>
              <a:ext cx="47700" cy="14478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7"/>
            <p:cNvSpPr txBox="1"/>
            <p:nvPr/>
          </p:nvSpPr>
          <p:spPr>
            <a:xfrm>
              <a:off x="4876800" y="2933700"/>
              <a:ext cx="3543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TASK 04</a:t>
              </a:r>
              <a:endParaRPr b="1" sz="9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실시간 인터랙션 및 프론트엔드 한계</a:t>
              </a:r>
              <a:endParaRPr b="1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Current:</a:t>
              </a: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알림 주기적 DB 조회로 실시간성 저하, 바닐라 JS 상태 관리 복잡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</a:t>
              </a:r>
              <a:r>
                <a:rPr b="1" lang="ko" sz="95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Improvement:</a:t>
              </a:r>
              <a:r>
                <a:rPr b="0" lang="ko" sz="95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SSE/WebSocket 기반 실시간 푸시 전환, SPA 라이브러리 검토</a:t>
              </a:r>
              <a:endParaRPr b="0" sz="95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메인 홈 화면 [MAIN_HOME-01]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12" name="Google Shape;312;p28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MAIN_HOME-01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REQ-AUTH-03, REQ-AUTH-04, REQ-REC-08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기능 진입 및 인기 영화·커뮤니티 콘텐츠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3" name="Google Shape;313;p28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18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35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로고 표시: CINEHUB 서비스 로고 및 서비스명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0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GNB 네비게이션: 홈, 영화 추천, 밸런스 게임, 취향 추천, 소개, 게시글, 마이페이지, 알림 등 주요 메뉴를 제공하며, 선택한 메뉴의 화면으로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메뉴 네비게이션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비로그인 상태는 로그인·회원가입 메뉴 표시 / 로그인 상태는 글쓰기·사용자명·로그아웃 메뉴 표시 / 로그인 세션 상태에 따라 사용자 메뉴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7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메인 배너 표시: CINEHUB 메인 비주얼 이미지 및 서비스 안내 문구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인기 영화: DB movies의 popularity 내림차순 상위 5개 작품 카드 렌더링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커뮤니티 인기글: 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데이터 기반 인기 게시글 목록 조회 및 렌더링 / 게시글 선택 시 게시글 상세 화면 [PST_DTL-01]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314" name="Google Shape;314;p28" title="2.JPG"/>
          <p:cNvPicPr preferRelativeResize="0"/>
          <p:nvPr/>
        </p:nvPicPr>
        <p:blipFill rotWithShape="1">
          <a:blip r:embed="rId3">
            <a:alphaModFix/>
          </a:blip>
          <a:srcRect b="12447" l="34436" r="33746" t="11841"/>
          <a:stretch/>
        </p:blipFill>
        <p:spPr>
          <a:xfrm>
            <a:off x="814975" y="664575"/>
            <a:ext cx="2951603" cy="422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28"/>
          <p:cNvGrpSpPr/>
          <p:nvPr/>
        </p:nvGrpSpPr>
        <p:grpSpPr>
          <a:xfrm>
            <a:off x="1540625" y="733970"/>
            <a:ext cx="1199508" cy="272400"/>
            <a:chOff x="1540625" y="733970"/>
            <a:chExt cx="1199508" cy="272400"/>
          </a:xfrm>
        </p:grpSpPr>
        <p:sp>
          <p:nvSpPr>
            <p:cNvPr id="316" name="Google Shape;316;p28"/>
            <p:cNvSpPr/>
            <p:nvPr/>
          </p:nvSpPr>
          <p:spPr>
            <a:xfrm>
              <a:off x="1778033" y="839277"/>
              <a:ext cx="962100" cy="1230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8"/>
            <p:cNvSpPr txBox="1"/>
            <p:nvPr/>
          </p:nvSpPr>
          <p:spPr>
            <a:xfrm>
              <a:off x="1540625" y="73397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18" name="Google Shape;318;p28"/>
          <p:cNvGrpSpPr/>
          <p:nvPr/>
        </p:nvGrpSpPr>
        <p:grpSpPr>
          <a:xfrm>
            <a:off x="2699954" y="724555"/>
            <a:ext cx="613247" cy="272400"/>
            <a:chOff x="2699954" y="724555"/>
            <a:chExt cx="613247" cy="272400"/>
          </a:xfrm>
        </p:grpSpPr>
        <p:sp>
          <p:nvSpPr>
            <p:cNvPr id="319" name="Google Shape;319;p28"/>
            <p:cNvSpPr/>
            <p:nvPr/>
          </p:nvSpPr>
          <p:spPr>
            <a:xfrm>
              <a:off x="2935201" y="839275"/>
              <a:ext cx="378000" cy="1230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8"/>
            <p:cNvSpPr txBox="1"/>
            <p:nvPr/>
          </p:nvSpPr>
          <p:spPr>
            <a:xfrm>
              <a:off x="2699954" y="724555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100">
                  <a:solidFill>
                    <a:schemeClr val="dk1"/>
                  </a:solidFill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1" name="Google Shape;321;p28"/>
          <p:cNvGrpSpPr/>
          <p:nvPr/>
        </p:nvGrpSpPr>
        <p:grpSpPr>
          <a:xfrm>
            <a:off x="1751042" y="581906"/>
            <a:ext cx="771033" cy="272400"/>
            <a:chOff x="1746675" y="733970"/>
            <a:chExt cx="771033" cy="272400"/>
          </a:xfrm>
        </p:grpSpPr>
        <p:sp>
          <p:nvSpPr>
            <p:cNvPr id="322" name="Google Shape;322;p28"/>
            <p:cNvSpPr/>
            <p:nvPr/>
          </p:nvSpPr>
          <p:spPr>
            <a:xfrm>
              <a:off x="1996008" y="827889"/>
              <a:ext cx="521700" cy="151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8"/>
            <p:cNvSpPr txBox="1"/>
            <p:nvPr/>
          </p:nvSpPr>
          <p:spPr>
            <a:xfrm>
              <a:off x="1746675" y="73397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4" name="Google Shape;324;p28"/>
          <p:cNvGrpSpPr/>
          <p:nvPr/>
        </p:nvGrpSpPr>
        <p:grpSpPr>
          <a:xfrm>
            <a:off x="885473" y="983225"/>
            <a:ext cx="2507692" cy="745800"/>
            <a:chOff x="2213500" y="378325"/>
            <a:chExt cx="2360625" cy="745800"/>
          </a:xfrm>
        </p:grpSpPr>
        <p:sp>
          <p:nvSpPr>
            <p:cNvPr id="325" name="Google Shape;325;p28"/>
            <p:cNvSpPr/>
            <p:nvPr/>
          </p:nvSpPr>
          <p:spPr>
            <a:xfrm>
              <a:off x="2453725" y="378325"/>
              <a:ext cx="2120400" cy="745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8"/>
            <p:cNvSpPr txBox="1"/>
            <p:nvPr/>
          </p:nvSpPr>
          <p:spPr>
            <a:xfrm>
              <a:off x="2213500" y="578725"/>
              <a:ext cx="240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r>
                <a:rPr lang="ko" sz="1100">
                  <a:solidFill>
                    <a:schemeClr val="dk1"/>
                  </a:solidFill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7" name="Google Shape;327;p28"/>
          <p:cNvGrpSpPr/>
          <p:nvPr/>
        </p:nvGrpSpPr>
        <p:grpSpPr>
          <a:xfrm>
            <a:off x="889293" y="1729025"/>
            <a:ext cx="2507692" cy="1089300"/>
            <a:chOff x="2213500" y="136550"/>
            <a:chExt cx="2360625" cy="1089300"/>
          </a:xfrm>
        </p:grpSpPr>
        <p:sp>
          <p:nvSpPr>
            <p:cNvPr id="328" name="Google Shape;328;p28"/>
            <p:cNvSpPr/>
            <p:nvPr/>
          </p:nvSpPr>
          <p:spPr>
            <a:xfrm>
              <a:off x="2453725" y="136550"/>
              <a:ext cx="2120400" cy="10893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8"/>
            <p:cNvSpPr txBox="1"/>
            <p:nvPr/>
          </p:nvSpPr>
          <p:spPr>
            <a:xfrm>
              <a:off x="2213500" y="505822"/>
              <a:ext cx="240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⑤</a:t>
              </a:r>
              <a:r>
                <a:rPr lang="ko" sz="1100">
                  <a:solidFill>
                    <a:schemeClr val="dk1"/>
                  </a:solidFill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30" name="Google Shape;330;p28"/>
          <p:cNvGrpSpPr/>
          <p:nvPr/>
        </p:nvGrpSpPr>
        <p:grpSpPr>
          <a:xfrm>
            <a:off x="889325" y="2818324"/>
            <a:ext cx="2503905" cy="1756169"/>
            <a:chOff x="2213510" y="136550"/>
            <a:chExt cx="2360615" cy="1089300"/>
          </a:xfrm>
        </p:grpSpPr>
        <p:sp>
          <p:nvSpPr>
            <p:cNvPr id="331" name="Google Shape;331;p28"/>
            <p:cNvSpPr/>
            <p:nvPr/>
          </p:nvSpPr>
          <p:spPr>
            <a:xfrm>
              <a:off x="2453725" y="136550"/>
              <a:ext cx="2120400" cy="10893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 txBox="1"/>
            <p:nvPr/>
          </p:nvSpPr>
          <p:spPr>
            <a:xfrm>
              <a:off x="2213510" y="596750"/>
              <a:ext cx="240000" cy="1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⑥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회원가입 화면 [AUTH_REG-01]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38" name="Google Shape;338;p29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AUTH_REG-01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REQ-AUTH-01, REQ-AUTH-02, REQ-AUTH-05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비동기 ID/닉네임 중복검사 및 비밀번호 정책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339" name="Google Shape;339;p29" title="25.JPG"/>
          <p:cNvPicPr preferRelativeResize="0"/>
          <p:nvPr/>
        </p:nvPicPr>
        <p:blipFill rotWithShape="1">
          <a:blip r:embed="rId3">
            <a:alphaModFix/>
          </a:blip>
          <a:srcRect b="0" l="19882" r="21017" t="12065"/>
          <a:stretch/>
        </p:blipFill>
        <p:spPr>
          <a:xfrm>
            <a:off x="254000" y="969325"/>
            <a:ext cx="3990973" cy="35718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0" name="Google Shape;340;p29"/>
          <p:cNvGraphicFramePr/>
          <p:nvPr/>
        </p:nvGraphicFramePr>
        <p:xfrm>
          <a:off x="4318000" y="15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52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2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아이디 유효성: 영문+숫자 4~12자. GET /api/auth/check-username 비동기 검증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4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비밀번호 검증: 영문, 숫자, 특수문자 조합 8~20자. onkeyup 실시간 일치 비교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닉네임 유효성: 한글/영문/숫자 2~10자. GET /api/auth/check-nickname 비동기 검사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이메일 검증: 사용자 이메일을 입력하며 이메일 형식에 맞는지 유효성을 검증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4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가입 완료: 입력값 유효성 검증 후 POST /api/auth/register 요청 / 회원정보 등록 성공 시 로그인 화면 [AUTH_LOGIN-01] 이동 / 데이터 변경 요청 시 CSRF 정책 적용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341" name="Google Shape;341;p29"/>
          <p:cNvGrpSpPr/>
          <p:nvPr/>
        </p:nvGrpSpPr>
        <p:grpSpPr>
          <a:xfrm>
            <a:off x="198366" y="2044566"/>
            <a:ext cx="3893746" cy="293363"/>
            <a:chOff x="1456688" y="738176"/>
            <a:chExt cx="3984595" cy="293363"/>
          </a:xfrm>
        </p:grpSpPr>
        <p:sp>
          <p:nvSpPr>
            <p:cNvPr id="342" name="Google Shape;342;p29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9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4" name="Google Shape;344;p29"/>
          <p:cNvGrpSpPr/>
          <p:nvPr/>
        </p:nvGrpSpPr>
        <p:grpSpPr>
          <a:xfrm>
            <a:off x="198379" y="2400878"/>
            <a:ext cx="3893746" cy="293363"/>
            <a:chOff x="1456688" y="738176"/>
            <a:chExt cx="3984595" cy="293363"/>
          </a:xfrm>
        </p:grpSpPr>
        <p:sp>
          <p:nvSpPr>
            <p:cNvPr id="345" name="Google Shape;345;p29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9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7" name="Google Shape;347;p29"/>
          <p:cNvGrpSpPr/>
          <p:nvPr/>
        </p:nvGrpSpPr>
        <p:grpSpPr>
          <a:xfrm>
            <a:off x="198379" y="2757203"/>
            <a:ext cx="3893746" cy="293363"/>
            <a:chOff x="1456688" y="738176"/>
            <a:chExt cx="3984595" cy="293363"/>
          </a:xfrm>
        </p:grpSpPr>
        <p:sp>
          <p:nvSpPr>
            <p:cNvPr id="348" name="Google Shape;348;p29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9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50" name="Google Shape;350;p29"/>
          <p:cNvGrpSpPr/>
          <p:nvPr/>
        </p:nvGrpSpPr>
        <p:grpSpPr>
          <a:xfrm>
            <a:off x="198379" y="3117249"/>
            <a:ext cx="3893746" cy="293363"/>
            <a:chOff x="1456688" y="738176"/>
            <a:chExt cx="3984595" cy="293363"/>
          </a:xfrm>
        </p:grpSpPr>
        <p:sp>
          <p:nvSpPr>
            <p:cNvPr id="351" name="Google Shape;351;p29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9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53" name="Google Shape;353;p29"/>
          <p:cNvGrpSpPr/>
          <p:nvPr/>
        </p:nvGrpSpPr>
        <p:grpSpPr>
          <a:xfrm>
            <a:off x="198375" y="3383400"/>
            <a:ext cx="881233" cy="293357"/>
            <a:chOff x="320811" y="738183"/>
            <a:chExt cx="5120473" cy="293357"/>
          </a:xfrm>
        </p:grpSpPr>
        <p:sp>
          <p:nvSpPr>
            <p:cNvPr id="354" name="Google Shape;354;p29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 txBox="1"/>
            <p:nvPr/>
          </p:nvSpPr>
          <p:spPr>
            <a:xfrm>
              <a:off x="320811" y="738183"/>
              <a:ext cx="13788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⑤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 [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AUTH_LOGIN-01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61" name="Google Shape;361;p30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AUTH_LOGIN-01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REQ-AUTH-03, REQ-AUTH-06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아이디·비밀번호 인증 및 세션 쿠키 발급 / 계정 상태 검증 및 회원가입 화면 연동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2" name="Google Shape;362;p30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48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0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아이디 입력: 사용자 아이디 입력 및 필수값 검증 / USERS.USERNAME 기준 로그인 대상 회원 조회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비밀번호 입력: 입력 비밀번호 마스킹 처리 / 저장된 PASSWORD_HASH와 PBKDF2 검증을 통해 비밀번호 일치 여부 확인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5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로그인: 아이디·비밀번호 및 회원 계정 상태 검증 후 POST /api/auth/login 요청 / 인증 성공 시 SESSIONID 세션 쿠키 발급 및 메인 화면 이동 / 인증 실패 또는 정지 계정은 로그인 차단 및 오류 메시지 출력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회원가입 이동: 회원가입 링크 클릭 시 회원가입 화면 [AUTH_REG-01] 이동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363" name="Google Shape;363;p30"/>
          <p:cNvGrpSpPr/>
          <p:nvPr/>
        </p:nvGrpSpPr>
        <p:grpSpPr>
          <a:xfrm>
            <a:off x="198366" y="944637"/>
            <a:ext cx="4068311" cy="3254226"/>
            <a:chOff x="198366" y="923825"/>
            <a:chExt cx="4068311" cy="3254226"/>
          </a:xfrm>
        </p:grpSpPr>
        <p:pic>
          <p:nvPicPr>
            <p:cNvPr id="364" name="Google Shape;364;p30" title="1.JPG"/>
            <p:cNvPicPr preferRelativeResize="0"/>
            <p:nvPr/>
          </p:nvPicPr>
          <p:blipFill rotWithShape="1">
            <a:blip r:embed="rId3">
              <a:alphaModFix/>
            </a:blip>
            <a:srcRect b="0" l="16861" r="17835" t="11964"/>
            <a:stretch/>
          </p:blipFill>
          <p:spPr>
            <a:xfrm>
              <a:off x="254000" y="923825"/>
              <a:ext cx="4012677" cy="32542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5" name="Google Shape;365;p30"/>
            <p:cNvGrpSpPr/>
            <p:nvPr/>
          </p:nvGrpSpPr>
          <p:grpSpPr>
            <a:xfrm>
              <a:off x="198366" y="2020038"/>
              <a:ext cx="3893746" cy="293363"/>
              <a:chOff x="1456688" y="738176"/>
              <a:chExt cx="3984595" cy="293363"/>
            </a:xfrm>
          </p:grpSpPr>
          <p:sp>
            <p:nvSpPr>
              <p:cNvPr id="366" name="Google Shape;366;p30"/>
              <p:cNvSpPr/>
              <p:nvPr/>
            </p:nvSpPr>
            <p:spPr>
              <a:xfrm>
                <a:off x="1699683" y="771739"/>
                <a:ext cx="3741600" cy="259800"/>
              </a:xfrm>
              <a:prstGeom prst="roundRect">
                <a:avLst>
                  <a:gd fmla="val 16667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0"/>
              <p:cNvSpPr txBox="1"/>
              <p:nvPr/>
            </p:nvSpPr>
            <p:spPr>
              <a:xfrm>
                <a:off x="1456688" y="738176"/>
                <a:ext cx="243000" cy="27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>
                    <a:solidFill>
                      <a:srgbClr val="FF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①</a:t>
                </a:r>
                <a:r>
                  <a:rPr lang="ko" sz="1000">
                    <a:solidFill>
                      <a:schemeClr val="dk1"/>
                    </a:solidFill>
                    <a:highlight>
                      <a:srgbClr val="000000"/>
                    </a:highlight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endParaRPr sz="1000">
                  <a:solidFill>
                    <a:schemeClr val="dk2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68" name="Google Shape;368;p30"/>
            <p:cNvGrpSpPr/>
            <p:nvPr/>
          </p:nvGrpSpPr>
          <p:grpSpPr>
            <a:xfrm>
              <a:off x="198379" y="2380438"/>
              <a:ext cx="3893746" cy="293363"/>
              <a:chOff x="1456688" y="738176"/>
              <a:chExt cx="3984595" cy="293363"/>
            </a:xfrm>
          </p:grpSpPr>
          <p:sp>
            <p:nvSpPr>
              <p:cNvPr id="369" name="Google Shape;369;p30"/>
              <p:cNvSpPr/>
              <p:nvPr/>
            </p:nvSpPr>
            <p:spPr>
              <a:xfrm>
                <a:off x="1699683" y="771739"/>
                <a:ext cx="3741600" cy="259800"/>
              </a:xfrm>
              <a:prstGeom prst="roundRect">
                <a:avLst>
                  <a:gd fmla="val 16667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0"/>
              <p:cNvSpPr txBox="1"/>
              <p:nvPr/>
            </p:nvSpPr>
            <p:spPr>
              <a:xfrm>
                <a:off x="1456688" y="738176"/>
                <a:ext cx="243000" cy="27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>
                    <a:solidFill>
                      <a:srgbClr val="FF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②</a:t>
                </a:r>
                <a:r>
                  <a:rPr lang="ko" sz="1000">
                    <a:solidFill>
                      <a:schemeClr val="dk1"/>
                    </a:solidFill>
                    <a:highlight>
                      <a:srgbClr val="000000"/>
                    </a:highlight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endParaRPr sz="1000">
                  <a:solidFill>
                    <a:schemeClr val="dk2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71" name="Google Shape;371;p30"/>
            <p:cNvGrpSpPr/>
            <p:nvPr/>
          </p:nvGrpSpPr>
          <p:grpSpPr>
            <a:xfrm>
              <a:off x="198379" y="2613936"/>
              <a:ext cx="573994" cy="272400"/>
              <a:chOff x="1456688" y="705556"/>
              <a:chExt cx="587386" cy="272400"/>
            </a:xfrm>
          </p:grpSpPr>
          <p:sp>
            <p:nvSpPr>
              <p:cNvPr id="372" name="Google Shape;372;p30"/>
              <p:cNvSpPr/>
              <p:nvPr/>
            </p:nvSpPr>
            <p:spPr>
              <a:xfrm>
                <a:off x="1699674" y="771736"/>
                <a:ext cx="344400" cy="189900"/>
              </a:xfrm>
              <a:prstGeom prst="roundRect">
                <a:avLst>
                  <a:gd fmla="val 16667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0"/>
              <p:cNvSpPr txBox="1"/>
              <p:nvPr/>
            </p:nvSpPr>
            <p:spPr>
              <a:xfrm>
                <a:off x="1456688" y="705556"/>
                <a:ext cx="243000" cy="27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>
                    <a:solidFill>
                      <a:srgbClr val="FF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③</a:t>
                </a:r>
                <a:r>
                  <a:rPr lang="ko" sz="1000">
                    <a:solidFill>
                      <a:schemeClr val="dk1"/>
                    </a:solidFill>
                    <a:highlight>
                      <a:srgbClr val="000000"/>
                    </a:highlight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endParaRPr sz="1000">
                  <a:solidFill>
                    <a:schemeClr val="dk2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영화 추천 화면 [MOV_REC-01]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79" name="Google Shape;379;p31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MOV_REC-01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REQ-REC-01, REQ-REC-02, REQ-REC-03, REQ-REC-04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키워드·시맨틱 검색 기반 RAG 하이브리드 추천 및 랜덤 AI 추천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0" name="Google Shape;380;p31"/>
          <p:cNvGraphicFramePr/>
          <p:nvPr/>
        </p:nvGraphicFramePr>
        <p:xfrm>
          <a:off x="4318000" y="182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52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검색 및 하이브리드 추천: 사용자 자연어 질의 입력 후 POST /api/recommend/hybrid 요청 / Oracle DB에서 제목·원제·줄거리 키워드 기반 후보 조회 / OpenAI Embeddings로 질의 벡터화 후 Qdrant 유사도 검색 수행 / 키워드 후보와 벡터 검색 후보를 결합하여 OpenAI가 최종 추천 영화 1편과 한국어 추천 사유 생성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랜덤 AI 추천: GET /api/recommend/random 요청 / DB에서 무작위 영화 30편을 후보로 구성하고 OpenAI가 사용자 맞춤 추천 영화 1편과 추천 사유 반환 / 추천 결과 영역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추천 결과 표시 및 상세 연동: 최종 추천 영화의 poster_path, 제목, 원제, overview 등 영화정보와 AI 추천 사유를 결과 카드에 렌더링 / 추천 영화 선택 시 영화 상세 화면 [MOV_DTL-01]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381" name="Google Shape;381;p31" title="5.JPG"/>
          <p:cNvPicPr preferRelativeResize="0"/>
          <p:nvPr/>
        </p:nvPicPr>
        <p:blipFill rotWithShape="1">
          <a:blip r:embed="rId3">
            <a:alphaModFix/>
          </a:blip>
          <a:srcRect b="9861" l="16054" r="17057" t="0"/>
          <a:stretch/>
        </p:blipFill>
        <p:spPr>
          <a:xfrm>
            <a:off x="254000" y="1147563"/>
            <a:ext cx="3997276" cy="2848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31"/>
          <p:cNvGrpSpPr/>
          <p:nvPr/>
        </p:nvGrpSpPr>
        <p:grpSpPr>
          <a:xfrm>
            <a:off x="50091" y="2318346"/>
            <a:ext cx="3787756" cy="293363"/>
            <a:chOff x="1456688" y="738176"/>
            <a:chExt cx="3984595" cy="293363"/>
          </a:xfrm>
        </p:grpSpPr>
        <p:sp>
          <p:nvSpPr>
            <p:cNvPr id="383" name="Google Shape;383;p31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1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85" name="Google Shape;385;p31"/>
          <p:cNvGrpSpPr/>
          <p:nvPr/>
        </p:nvGrpSpPr>
        <p:grpSpPr>
          <a:xfrm>
            <a:off x="3850401" y="2092670"/>
            <a:ext cx="356483" cy="519043"/>
            <a:chOff x="1699684" y="512507"/>
            <a:chExt cx="364800" cy="519043"/>
          </a:xfrm>
        </p:grpSpPr>
        <p:sp>
          <p:nvSpPr>
            <p:cNvPr id="386" name="Google Shape;386;p31"/>
            <p:cNvSpPr/>
            <p:nvPr/>
          </p:nvSpPr>
          <p:spPr>
            <a:xfrm>
              <a:off x="1699684" y="771750"/>
              <a:ext cx="3648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1"/>
            <p:cNvSpPr txBox="1"/>
            <p:nvPr/>
          </p:nvSpPr>
          <p:spPr>
            <a:xfrm>
              <a:off x="1724313" y="512507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88" name="Google Shape;388;p31"/>
          <p:cNvGrpSpPr/>
          <p:nvPr/>
        </p:nvGrpSpPr>
        <p:grpSpPr>
          <a:xfrm>
            <a:off x="50086" y="2943350"/>
            <a:ext cx="4108935" cy="1052700"/>
            <a:chOff x="1456688" y="650550"/>
            <a:chExt cx="4204805" cy="1052700"/>
          </a:xfrm>
        </p:grpSpPr>
        <p:sp>
          <p:nvSpPr>
            <p:cNvPr id="389" name="Google Shape;389;p31"/>
            <p:cNvSpPr/>
            <p:nvPr/>
          </p:nvSpPr>
          <p:spPr>
            <a:xfrm>
              <a:off x="1699693" y="650550"/>
              <a:ext cx="3961800" cy="1052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1"/>
            <p:cNvSpPr txBox="1"/>
            <p:nvPr/>
          </p:nvSpPr>
          <p:spPr>
            <a:xfrm>
              <a:off x="1456688" y="1040701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2" title="29.PNG"/>
          <p:cNvPicPr preferRelativeResize="0"/>
          <p:nvPr/>
        </p:nvPicPr>
        <p:blipFill rotWithShape="1">
          <a:blip r:embed="rId3">
            <a:alphaModFix/>
          </a:blip>
          <a:srcRect b="298" l="26945" r="26853" t="12144"/>
          <a:stretch/>
        </p:blipFill>
        <p:spPr>
          <a:xfrm>
            <a:off x="453225" y="664575"/>
            <a:ext cx="3705810" cy="422467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2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</a:rPr>
              <a:t>영화 상세 화면 </a:t>
            </a:r>
            <a:r>
              <a:rPr b="1" lang="ko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[MOV_DTL-01]</a:t>
            </a:r>
            <a:r>
              <a:rPr b="1" lang="ko" sz="1200">
                <a:solidFill>
                  <a:schemeClr val="lt1"/>
                </a:solidFill>
              </a:rPr>
              <a:t>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97" name="Google Shape;397;p32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MOV_DTL-01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REQ-REC-07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상세정보 및 한줄평 조회·등록·좋아요 기능 제공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8" name="Google Shape;398;p32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검색 화면 이동: 영화 검색으로 선택 시 영화 추천·검색 화면 [MOV_REC-01]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상세정보 조회: GET /api/movies/{id} 요청 / MOVIES 테이블 기준 선택 영화의 POSTER_PATH, TITLE, ORIGINAL_TITLE, VOTE_AVERAGE, POPULARITY, RELEASE_DATE, OVERVIEW 등 상세정보 조회 및 화면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한줄평 조회·등록 및 좋아요: 해당 영화의 MOVIE_COMMENTS 기준 작성자·내용·작성일 조회 및 목록 렌더링 / 한줄평 입력 후 등록 시 목록 갱신 / 좋아요 선택 시 좋아요 상태 및 수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399" name="Google Shape;399;p32"/>
          <p:cNvGrpSpPr/>
          <p:nvPr/>
        </p:nvGrpSpPr>
        <p:grpSpPr>
          <a:xfrm>
            <a:off x="216510" y="1283854"/>
            <a:ext cx="777965" cy="272400"/>
            <a:chOff x="1456688" y="723484"/>
            <a:chExt cx="818394" cy="272400"/>
          </a:xfrm>
        </p:grpSpPr>
        <p:sp>
          <p:nvSpPr>
            <p:cNvPr id="400" name="Google Shape;400;p32"/>
            <p:cNvSpPr/>
            <p:nvPr/>
          </p:nvSpPr>
          <p:spPr>
            <a:xfrm>
              <a:off x="1699682" y="850555"/>
              <a:ext cx="575400" cy="855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2"/>
            <p:cNvSpPr txBox="1"/>
            <p:nvPr/>
          </p:nvSpPr>
          <p:spPr>
            <a:xfrm>
              <a:off x="1456688" y="723484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02" name="Google Shape;402;p32"/>
          <p:cNvGrpSpPr/>
          <p:nvPr/>
        </p:nvGrpSpPr>
        <p:grpSpPr>
          <a:xfrm>
            <a:off x="216498" y="1500980"/>
            <a:ext cx="3942518" cy="1241463"/>
            <a:chOff x="1129501" y="462713"/>
            <a:chExt cx="4034505" cy="1327200"/>
          </a:xfrm>
        </p:grpSpPr>
        <p:sp>
          <p:nvSpPr>
            <p:cNvPr id="403" name="Google Shape;403;p32"/>
            <p:cNvSpPr/>
            <p:nvPr/>
          </p:nvSpPr>
          <p:spPr>
            <a:xfrm>
              <a:off x="1371706" y="462713"/>
              <a:ext cx="3792300" cy="1327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2"/>
            <p:cNvSpPr txBox="1"/>
            <p:nvPr/>
          </p:nvSpPr>
          <p:spPr>
            <a:xfrm>
              <a:off x="1129501" y="953477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05" name="Google Shape;405;p32"/>
          <p:cNvGrpSpPr/>
          <p:nvPr/>
        </p:nvGrpSpPr>
        <p:grpSpPr>
          <a:xfrm>
            <a:off x="752811" y="3095150"/>
            <a:ext cx="2855676" cy="1193700"/>
            <a:chOff x="1456688" y="650550"/>
            <a:chExt cx="2922305" cy="1193700"/>
          </a:xfrm>
        </p:grpSpPr>
        <p:sp>
          <p:nvSpPr>
            <p:cNvPr id="406" name="Google Shape;406;p32"/>
            <p:cNvSpPr/>
            <p:nvPr/>
          </p:nvSpPr>
          <p:spPr>
            <a:xfrm>
              <a:off x="1699693" y="650550"/>
              <a:ext cx="2679300" cy="1193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2"/>
            <p:cNvSpPr txBox="1"/>
            <p:nvPr/>
          </p:nvSpPr>
          <p:spPr>
            <a:xfrm>
              <a:off x="1456688" y="1086733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밸런스 게임 화면[BAL_GAME-01]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13" name="Google Shape;413;p33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BAL_GAME-01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REQ-REC-06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32강 영화 토너먼트 시작 및 1:1 영화 선택 방식의 밸런스 게임 진행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4" name="Google Shape;414;p33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5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게임 시작: 32강 시작 버튼 클릭 시 movies 테이블 기반 참가 영화 조회 및 초기 대진 구성 / 게임 진행 화면 전환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진행 현황: 현재 라운드 및 대결 순서 표시 / 영화 선택에 따른 진행 상태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31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선택 및 결과 연동: 대결 영화 2편의 POSTER_PATH, TITLE, VOTE_AVERAGE 등 정보 매핑 및 카드 렌더링 / 영화 선택 시 해당 영화를 승자로 처리하고 다음 대결 갱신 / 32강→16강→8강→4강→결승 순차 진행 / 결승 완료 시 최종 우승 영화 결과 표시 / GET /api/recommend/balance/similar?tmdbId={우승작 TMDB_ID} 요청을 통해 TMDB 유사 영화 4편 조회 및 추천 결과 제공 / 추천 영화 또는 우승 영화 선택 시 영화 상세 화면 [MOV_DTL-01]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15" name="Google Shape;415;p33" title="8.JPG"/>
          <p:cNvPicPr preferRelativeResize="0"/>
          <p:nvPr/>
        </p:nvPicPr>
        <p:blipFill rotWithShape="1">
          <a:blip r:embed="rId3">
            <a:alphaModFix/>
          </a:blip>
          <a:srcRect b="0" l="16288" r="16764" t="11980"/>
          <a:stretch/>
        </p:blipFill>
        <p:spPr>
          <a:xfrm>
            <a:off x="430575" y="2007833"/>
            <a:ext cx="3643377" cy="28814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" name="Google Shape;416;p33"/>
          <p:cNvGrpSpPr/>
          <p:nvPr/>
        </p:nvGrpSpPr>
        <p:grpSpPr>
          <a:xfrm>
            <a:off x="197309" y="3013374"/>
            <a:ext cx="630813" cy="272400"/>
            <a:chOff x="1427765" y="782101"/>
            <a:chExt cx="663595" cy="272400"/>
          </a:xfrm>
        </p:grpSpPr>
        <p:sp>
          <p:nvSpPr>
            <p:cNvPr id="417" name="Google Shape;417;p33"/>
            <p:cNvSpPr/>
            <p:nvPr/>
          </p:nvSpPr>
          <p:spPr>
            <a:xfrm>
              <a:off x="1670760" y="902727"/>
              <a:ext cx="420600" cy="82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3"/>
            <p:cNvSpPr txBox="1"/>
            <p:nvPr/>
          </p:nvSpPr>
          <p:spPr>
            <a:xfrm>
              <a:off x="1427765" y="782101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19" name="Google Shape;419;p33"/>
          <p:cNvGrpSpPr/>
          <p:nvPr/>
        </p:nvGrpSpPr>
        <p:grpSpPr>
          <a:xfrm>
            <a:off x="193042" y="3221776"/>
            <a:ext cx="3880850" cy="1210800"/>
            <a:chOff x="1608574" y="499906"/>
            <a:chExt cx="3971398" cy="1210800"/>
          </a:xfrm>
        </p:grpSpPr>
        <p:sp>
          <p:nvSpPr>
            <p:cNvPr id="420" name="Google Shape;420;p33"/>
            <p:cNvSpPr/>
            <p:nvPr/>
          </p:nvSpPr>
          <p:spPr>
            <a:xfrm>
              <a:off x="1851572" y="499906"/>
              <a:ext cx="3728400" cy="1210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3"/>
            <p:cNvSpPr txBox="1"/>
            <p:nvPr/>
          </p:nvSpPr>
          <p:spPr>
            <a:xfrm>
              <a:off x="1608574" y="91231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pic>
        <p:nvPicPr>
          <p:cNvPr id="422" name="Google Shape;422;p33" title="7.JPG"/>
          <p:cNvPicPr preferRelativeResize="0"/>
          <p:nvPr/>
        </p:nvPicPr>
        <p:blipFill rotWithShape="1">
          <a:blip r:embed="rId4">
            <a:alphaModFix/>
          </a:blip>
          <a:srcRect b="47664" l="16349" r="17753" t="11994"/>
          <a:stretch/>
        </p:blipFill>
        <p:spPr>
          <a:xfrm>
            <a:off x="430575" y="664575"/>
            <a:ext cx="3643377" cy="13417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33"/>
          <p:cNvGrpSpPr/>
          <p:nvPr/>
        </p:nvGrpSpPr>
        <p:grpSpPr>
          <a:xfrm>
            <a:off x="197309" y="1735424"/>
            <a:ext cx="736038" cy="272400"/>
            <a:chOff x="1391104" y="816776"/>
            <a:chExt cx="774288" cy="272400"/>
          </a:xfrm>
        </p:grpSpPr>
        <p:sp>
          <p:nvSpPr>
            <p:cNvPr id="424" name="Google Shape;424;p33"/>
            <p:cNvSpPr/>
            <p:nvPr/>
          </p:nvSpPr>
          <p:spPr>
            <a:xfrm>
              <a:off x="1636492" y="872652"/>
              <a:ext cx="528900" cy="214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3"/>
            <p:cNvSpPr txBox="1"/>
            <p:nvPr/>
          </p:nvSpPr>
          <p:spPr>
            <a:xfrm>
              <a:off x="1391104" y="8167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4" title="13.JPG"/>
          <p:cNvPicPr preferRelativeResize="0"/>
          <p:nvPr/>
        </p:nvPicPr>
        <p:blipFill rotWithShape="1">
          <a:blip r:embed="rId3">
            <a:alphaModFix/>
          </a:blip>
          <a:srcRect b="0" l="16002" r="16735" t="12157"/>
          <a:stretch/>
        </p:blipFill>
        <p:spPr>
          <a:xfrm>
            <a:off x="254000" y="995263"/>
            <a:ext cx="4013076" cy="315297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4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취향추천 화면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[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TASTE_QUIZ-01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32" name="Google Shape;432;p34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TASTE_QUIZ-01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REQ-REC-05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19개 장르별 영화 선호도 평가 및 AI 기반 맞춤 영화 추천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3" name="Google Shape;433;p34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취향 테스트 진행: 19개 장르에서 랜덤 조회하여 총 10개 평가 항목 구성 / 현재 평가 순서 및 진행 상태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정보 표시: 평가 대상 영화의 POSTER_PATH, TITLE, VOTE_AVERAGE 등 영화정보를 MOVIES 데이터와 매핑하여 화면에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선호도 선택: 각 영화에 대해 좋아요·싫어요 등 선호도를 선택하면 해당 평가 결과를 저장하고 다음 영화로 평가 항목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434" name="Google Shape;434;p34"/>
          <p:cNvGrpSpPr/>
          <p:nvPr/>
        </p:nvGrpSpPr>
        <p:grpSpPr>
          <a:xfrm>
            <a:off x="1214767" y="2436229"/>
            <a:ext cx="1840563" cy="1252756"/>
            <a:chOff x="2640870" y="764291"/>
            <a:chExt cx="1966203" cy="1301700"/>
          </a:xfrm>
        </p:grpSpPr>
        <p:sp>
          <p:nvSpPr>
            <p:cNvPr id="435" name="Google Shape;435;p34"/>
            <p:cNvSpPr/>
            <p:nvPr/>
          </p:nvSpPr>
          <p:spPr>
            <a:xfrm>
              <a:off x="2883873" y="764291"/>
              <a:ext cx="1723200" cy="1301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4"/>
            <p:cNvSpPr txBox="1"/>
            <p:nvPr/>
          </p:nvSpPr>
          <p:spPr>
            <a:xfrm>
              <a:off x="2640870" y="126826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37" name="Google Shape;437;p34"/>
          <p:cNvGrpSpPr/>
          <p:nvPr/>
        </p:nvGrpSpPr>
        <p:grpSpPr>
          <a:xfrm>
            <a:off x="26272" y="2111496"/>
            <a:ext cx="479258" cy="272400"/>
            <a:chOff x="1353864" y="826023"/>
            <a:chExt cx="504163" cy="272400"/>
          </a:xfrm>
        </p:grpSpPr>
        <p:sp>
          <p:nvSpPr>
            <p:cNvPr id="438" name="Google Shape;438;p34"/>
            <p:cNvSpPr/>
            <p:nvPr/>
          </p:nvSpPr>
          <p:spPr>
            <a:xfrm>
              <a:off x="1593427" y="931027"/>
              <a:ext cx="264600" cy="121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4"/>
            <p:cNvSpPr txBox="1"/>
            <p:nvPr/>
          </p:nvSpPr>
          <p:spPr>
            <a:xfrm>
              <a:off x="1353864" y="826023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40" name="Google Shape;440;p34"/>
          <p:cNvGrpSpPr/>
          <p:nvPr/>
        </p:nvGrpSpPr>
        <p:grpSpPr>
          <a:xfrm>
            <a:off x="1206165" y="3663865"/>
            <a:ext cx="1849299" cy="284010"/>
            <a:chOff x="1693380" y="485346"/>
            <a:chExt cx="1892447" cy="284010"/>
          </a:xfrm>
        </p:grpSpPr>
        <p:sp>
          <p:nvSpPr>
            <p:cNvPr id="441" name="Google Shape;441;p34"/>
            <p:cNvSpPr/>
            <p:nvPr/>
          </p:nvSpPr>
          <p:spPr>
            <a:xfrm>
              <a:off x="1937327" y="510455"/>
              <a:ext cx="1648500" cy="258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4"/>
            <p:cNvSpPr txBox="1"/>
            <p:nvPr/>
          </p:nvSpPr>
          <p:spPr>
            <a:xfrm>
              <a:off x="1693380" y="48534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5" title="14.JPG"/>
          <p:cNvPicPr preferRelativeResize="0"/>
          <p:nvPr/>
        </p:nvPicPr>
        <p:blipFill rotWithShape="1">
          <a:blip r:embed="rId3">
            <a:alphaModFix/>
          </a:blip>
          <a:srcRect b="0" l="0" r="16583" t="11871"/>
          <a:stretch/>
        </p:blipFill>
        <p:spPr>
          <a:xfrm>
            <a:off x="254000" y="1301175"/>
            <a:ext cx="3998403" cy="254115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소개 화면 [ABOUT-01]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49" name="Google Shape;449;p35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ABOUT-01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CINEHUB 서비스 주요 기능 및 이용 목적 안내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0" name="Google Shape;450;p35"/>
          <p:cNvGraphicFramePr/>
          <p:nvPr/>
        </p:nvGraphicFramePr>
        <p:xfrm>
          <a:off x="4318000" y="15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118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106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소개: CINEHUB의 영화 검색·AI 추천·취향 분석·커뮤니티 등 주요 서비스 기능과 이용 목적을 안내하는 콘텐츠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06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이동: 게시판 이동 버튼 선택 시 게시글 목록 화면 [PST_LIST-01]로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451" name="Google Shape;451;p35"/>
          <p:cNvGrpSpPr/>
          <p:nvPr/>
        </p:nvGrpSpPr>
        <p:grpSpPr>
          <a:xfrm>
            <a:off x="186673" y="2179482"/>
            <a:ext cx="605697" cy="242120"/>
            <a:chOff x="2296610" y="-1098"/>
            <a:chExt cx="1087428" cy="1689600"/>
          </a:xfrm>
        </p:grpSpPr>
        <p:sp>
          <p:nvSpPr>
            <p:cNvPr id="452" name="Google Shape;452;p35"/>
            <p:cNvSpPr/>
            <p:nvPr/>
          </p:nvSpPr>
          <p:spPr>
            <a:xfrm>
              <a:off x="2712638" y="637023"/>
              <a:ext cx="671400" cy="966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5"/>
            <p:cNvSpPr txBox="1"/>
            <p:nvPr/>
          </p:nvSpPr>
          <p:spPr>
            <a:xfrm>
              <a:off x="2296610" y="-1098"/>
              <a:ext cx="421200" cy="16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54" name="Google Shape;454;p35"/>
          <p:cNvGrpSpPr/>
          <p:nvPr/>
        </p:nvGrpSpPr>
        <p:grpSpPr>
          <a:xfrm>
            <a:off x="185990" y="1940429"/>
            <a:ext cx="1287622" cy="348699"/>
            <a:chOff x="1101309" y="837773"/>
            <a:chExt cx="1354536" cy="272400"/>
          </a:xfrm>
        </p:grpSpPr>
        <p:sp>
          <p:nvSpPr>
            <p:cNvPr id="455" name="Google Shape;455;p35"/>
            <p:cNvSpPr/>
            <p:nvPr/>
          </p:nvSpPr>
          <p:spPr>
            <a:xfrm>
              <a:off x="1343745" y="851538"/>
              <a:ext cx="1112100" cy="246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5"/>
            <p:cNvSpPr txBox="1"/>
            <p:nvPr/>
          </p:nvSpPr>
          <p:spPr>
            <a:xfrm>
              <a:off x="1101309" y="837773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lt1"/>
                </a:solidFill>
              </a:rPr>
              <a:t>화면설계서 (Screen Specification)  |  게시판 목록 [PST_LIST-01]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62" name="Google Shape;462;p36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PST_LIST-01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REQ-COMM-01, REQ-COMM-02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카테고리별 게시글 조회·검색 및 10건 단위 페이징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3" name="Google Shape;463;p36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 필터: 공지·자유·영화 추천 카테고리 선택 시 해당 BOARD_ID 기준으로 게시글 목록 필터링 및 화면 갱신 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검색: 검색어 입력 후 검색 시 keyword 조건을 적용하여 게시글 목록 조회 및 검색 결과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2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목록 조회: GET /api/posts?boardId={boardId}&amp;page={page}&amp;keyword={keyword} 요청 / 게시글 제목·작성자·작성일·조회수 등 목록 정보 렌더링 / 게시글 선택 시 상세 화면 [PST_DTL-01]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2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작성 이동: 글쓰기 버튼 선택 시 게시글 작성 화면 [PST_FORM-01]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페이징: 게시글 목록을 페이지당 10건 단위로 조회 / 페이지 선택 시 해당 페이지 게시글 목록으로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64" name="Google Shape;464;p36" title="15.JPG"/>
          <p:cNvPicPr preferRelativeResize="0"/>
          <p:nvPr/>
        </p:nvPicPr>
        <p:blipFill rotWithShape="1">
          <a:blip r:embed="rId3">
            <a:alphaModFix/>
          </a:blip>
          <a:srcRect b="4507" l="26506" r="26313" t="11874"/>
          <a:stretch/>
        </p:blipFill>
        <p:spPr>
          <a:xfrm>
            <a:off x="254000" y="664575"/>
            <a:ext cx="3963177" cy="422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36"/>
          <p:cNvGrpSpPr/>
          <p:nvPr/>
        </p:nvGrpSpPr>
        <p:grpSpPr>
          <a:xfrm>
            <a:off x="354516" y="1186425"/>
            <a:ext cx="1413322" cy="272400"/>
            <a:chOff x="1458991" y="682785"/>
            <a:chExt cx="1446298" cy="272400"/>
          </a:xfrm>
        </p:grpSpPr>
        <p:sp>
          <p:nvSpPr>
            <p:cNvPr id="466" name="Google Shape;466;p36"/>
            <p:cNvSpPr/>
            <p:nvPr/>
          </p:nvSpPr>
          <p:spPr>
            <a:xfrm>
              <a:off x="1701989" y="771735"/>
              <a:ext cx="1203300" cy="148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6"/>
            <p:cNvSpPr txBox="1"/>
            <p:nvPr/>
          </p:nvSpPr>
          <p:spPr>
            <a:xfrm>
              <a:off x="1458991" y="682785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68" name="Google Shape;468;p36"/>
          <p:cNvGrpSpPr/>
          <p:nvPr/>
        </p:nvGrpSpPr>
        <p:grpSpPr>
          <a:xfrm>
            <a:off x="354536" y="1360362"/>
            <a:ext cx="3273404" cy="272400"/>
            <a:chOff x="1225671" y="682868"/>
            <a:chExt cx="3349779" cy="272400"/>
          </a:xfrm>
        </p:grpSpPr>
        <p:sp>
          <p:nvSpPr>
            <p:cNvPr id="469" name="Google Shape;469;p36"/>
            <p:cNvSpPr/>
            <p:nvPr/>
          </p:nvSpPr>
          <p:spPr>
            <a:xfrm>
              <a:off x="1468650" y="756381"/>
              <a:ext cx="3106800" cy="1650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6"/>
            <p:cNvSpPr txBox="1"/>
            <p:nvPr/>
          </p:nvSpPr>
          <p:spPr>
            <a:xfrm>
              <a:off x="1225671" y="682868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71" name="Google Shape;471;p36"/>
          <p:cNvGrpSpPr/>
          <p:nvPr/>
        </p:nvGrpSpPr>
        <p:grpSpPr>
          <a:xfrm>
            <a:off x="339300" y="1610550"/>
            <a:ext cx="3343487" cy="2970271"/>
            <a:chOff x="1210092" y="739294"/>
            <a:chExt cx="3421497" cy="292200"/>
          </a:xfrm>
        </p:grpSpPr>
        <p:sp>
          <p:nvSpPr>
            <p:cNvPr id="472" name="Google Shape;472;p36"/>
            <p:cNvSpPr/>
            <p:nvPr/>
          </p:nvSpPr>
          <p:spPr>
            <a:xfrm>
              <a:off x="1456690" y="739294"/>
              <a:ext cx="3174900" cy="292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6"/>
            <p:cNvSpPr txBox="1"/>
            <p:nvPr/>
          </p:nvSpPr>
          <p:spPr>
            <a:xfrm>
              <a:off x="1210092" y="866377"/>
              <a:ext cx="246600" cy="2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74" name="Google Shape;474;p36"/>
          <p:cNvGrpSpPr/>
          <p:nvPr/>
        </p:nvGrpSpPr>
        <p:grpSpPr>
          <a:xfrm>
            <a:off x="2920379" y="805316"/>
            <a:ext cx="378805" cy="272400"/>
            <a:chOff x="2725441" y="670368"/>
            <a:chExt cx="387643" cy="272400"/>
          </a:xfrm>
        </p:grpSpPr>
        <p:sp>
          <p:nvSpPr>
            <p:cNvPr id="475" name="Google Shape;475;p36"/>
            <p:cNvSpPr/>
            <p:nvPr/>
          </p:nvSpPr>
          <p:spPr>
            <a:xfrm>
              <a:off x="2972984" y="771727"/>
              <a:ext cx="140100" cy="127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6"/>
            <p:cNvSpPr txBox="1"/>
            <p:nvPr/>
          </p:nvSpPr>
          <p:spPr>
            <a:xfrm>
              <a:off x="2725441" y="670368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77" name="Google Shape;477;p36"/>
          <p:cNvGrpSpPr/>
          <p:nvPr/>
        </p:nvGrpSpPr>
        <p:grpSpPr>
          <a:xfrm>
            <a:off x="591975" y="4496075"/>
            <a:ext cx="1084807" cy="272400"/>
            <a:chOff x="320811" y="738183"/>
            <a:chExt cx="6303350" cy="272400"/>
          </a:xfrm>
        </p:grpSpPr>
        <p:sp>
          <p:nvSpPr>
            <p:cNvPr id="478" name="Google Shape;478;p36"/>
            <p:cNvSpPr/>
            <p:nvPr/>
          </p:nvSpPr>
          <p:spPr>
            <a:xfrm>
              <a:off x="1699661" y="830783"/>
              <a:ext cx="4924500" cy="1356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6"/>
            <p:cNvSpPr txBox="1"/>
            <p:nvPr/>
          </p:nvSpPr>
          <p:spPr>
            <a:xfrm>
              <a:off x="320811" y="738183"/>
              <a:ext cx="13788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⑤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7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lt1"/>
                </a:solidFill>
              </a:rPr>
              <a:t>화면설계서 (Screen Specification)  |  게시글 상세 및 계층형 댓글 [PST_DTL-01]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85" name="Google Shape;485;p37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PST_DTL-01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REQ-COMM-02, REQ-COMM-03, REQ-COMM-04, REQ-COMM-05, REQ-COMM-06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상세 조회·조회수 중복 방지·좋아요·댓글·신고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Google Shape;486;p37"/>
          <p:cNvGraphicFramePr/>
          <p:nvPr/>
        </p:nvGraphicFramePr>
        <p:xfrm>
          <a:off x="4318000" y="194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71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5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상세 조회 및 좋아요: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GET /api/posts/{id} 요청으로 게시글 제목·작성자·내용·작성일·조회수 및 댓글 정보 조회 / 회원별 최초 조회 시에만 VIEW_COUNT 1 증가 / 좋아요 선택 시 POST /api/posts/{id}/like 요청 후 좋아요 상태 및 수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5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댓글 조회 및 등록: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게시글 상세 조회 결과의 댓글 목록 렌더링 / 댓글 입력 후 POST /api/posts/{id}/comments 요청 / 등록 성공 시 댓글 목록 갱신 및 원글 작성자 알림 생성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5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게시글·댓글 신고: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신고 대상과 사유를 입력하여 POST /api/reports 요청 / 동일 회원의 동일 대상 중복 신고 시 등록 차단 및 안내 메시지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87" name="Google Shape;487;p37" title="26.JPG"/>
          <p:cNvPicPr preferRelativeResize="0"/>
          <p:nvPr/>
        </p:nvPicPr>
        <p:blipFill rotWithShape="1">
          <a:blip r:embed="rId3">
            <a:alphaModFix/>
          </a:blip>
          <a:srcRect b="16755" l="33192" r="33326" t="12010"/>
          <a:stretch/>
        </p:blipFill>
        <p:spPr>
          <a:xfrm>
            <a:off x="624033" y="664575"/>
            <a:ext cx="3300941" cy="4224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8" name="Google Shape;488;p37"/>
          <p:cNvGrpSpPr/>
          <p:nvPr/>
        </p:nvGrpSpPr>
        <p:grpSpPr>
          <a:xfrm>
            <a:off x="379332" y="1186425"/>
            <a:ext cx="3545803" cy="964500"/>
            <a:chOff x="1458991" y="682785"/>
            <a:chExt cx="3628534" cy="964500"/>
          </a:xfrm>
        </p:grpSpPr>
        <p:sp>
          <p:nvSpPr>
            <p:cNvPr id="489" name="Google Shape;489;p37"/>
            <p:cNvSpPr/>
            <p:nvPr/>
          </p:nvSpPr>
          <p:spPr>
            <a:xfrm>
              <a:off x="1702025" y="682785"/>
              <a:ext cx="3385500" cy="9645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7"/>
            <p:cNvSpPr txBox="1"/>
            <p:nvPr/>
          </p:nvSpPr>
          <p:spPr>
            <a:xfrm>
              <a:off x="1458991" y="976974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91" name="Google Shape;491;p37"/>
          <p:cNvGrpSpPr/>
          <p:nvPr/>
        </p:nvGrpSpPr>
        <p:grpSpPr>
          <a:xfrm>
            <a:off x="386574" y="2151000"/>
            <a:ext cx="3538408" cy="1355857"/>
            <a:chOff x="1035817" y="698153"/>
            <a:chExt cx="3620966" cy="1328100"/>
          </a:xfrm>
        </p:grpSpPr>
        <p:sp>
          <p:nvSpPr>
            <p:cNvPr id="492" name="Google Shape;492;p37"/>
            <p:cNvSpPr/>
            <p:nvPr/>
          </p:nvSpPr>
          <p:spPr>
            <a:xfrm>
              <a:off x="1278783" y="698153"/>
              <a:ext cx="3378000" cy="13281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 txBox="1"/>
            <p:nvPr/>
          </p:nvSpPr>
          <p:spPr>
            <a:xfrm>
              <a:off x="1035817" y="119671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94" name="Google Shape;494;p37"/>
          <p:cNvGrpSpPr/>
          <p:nvPr/>
        </p:nvGrpSpPr>
        <p:grpSpPr>
          <a:xfrm>
            <a:off x="362356" y="3506768"/>
            <a:ext cx="3562724" cy="827072"/>
            <a:chOff x="1232078" y="739294"/>
            <a:chExt cx="3399546" cy="292200"/>
          </a:xfrm>
        </p:grpSpPr>
        <p:sp>
          <p:nvSpPr>
            <p:cNvPr id="495" name="Google Shape;495;p37"/>
            <p:cNvSpPr/>
            <p:nvPr/>
          </p:nvSpPr>
          <p:spPr>
            <a:xfrm>
              <a:off x="1481925" y="739294"/>
              <a:ext cx="3149700" cy="292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7"/>
            <p:cNvSpPr txBox="1"/>
            <p:nvPr/>
          </p:nvSpPr>
          <p:spPr>
            <a:xfrm>
              <a:off x="1232078" y="836356"/>
              <a:ext cx="2466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8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게시글 작성 화면 [PST_FORM-01]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02" name="Google Shape;502;p38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PST_FORM-01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REQ-COMM-01, REQ-COMM-02, REQ-AUTH-05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 선택 및 게시글 작성·등록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3" name="Google Shape;503;p38"/>
          <p:cNvGraphicFramePr/>
          <p:nvPr/>
        </p:nvGraphicFramePr>
        <p:xfrm>
          <a:off x="4318000" y="181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51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 선택: 공지·자유·영화 추천 중 작성할 게시판 카테고리를 선택하고 해당 BOARD_ID를 게시글 등록 정보에 매핑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제목 입력: 게시글 제목 입력 및 필수값 유효성 검증 / 입력값을 POSTS.TITLE에 매핑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내용 입력: 게시글 본문 내용 입력 및 필수값 유효성 검증 / 입력값을 POSTS.CONTENT에 매핑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8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등록: 입력값 검증 후 POST /api/posts 요청 / X-CSRF-Token 검증 후 boardId, title, content 등록 / 성공 시 반환된 postId 기준 게시글 상세 화면 [PST_DTL-01]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504" name="Google Shape;504;p38" title="19.JPG"/>
          <p:cNvPicPr preferRelativeResize="0"/>
          <p:nvPr/>
        </p:nvPicPr>
        <p:blipFill rotWithShape="1">
          <a:blip r:embed="rId3">
            <a:alphaModFix/>
          </a:blip>
          <a:srcRect b="0" l="19333" r="20382" t="12219"/>
          <a:stretch/>
        </p:blipFill>
        <p:spPr>
          <a:xfrm>
            <a:off x="254012" y="812437"/>
            <a:ext cx="4017326" cy="35186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5" name="Google Shape;505;p38"/>
          <p:cNvGrpSpPr/>
          <p:nvPr/>
        </p:nvGrpSpPr>
        <p:grpSpPr>
          <a:xfrm>
            <a:off x="198366" y="1858531"/>
            <a:ext cx="3893746" cy="293363"/>
            <a:chOff x="1456688" y="738176"/>
            <a:chExt cx="3984595" cy="293363"/>
          </a:xfrm>
        </p:grpSpPr>
        <p:sp>
          <p:nvSpPr>
            <p:cNvPr id="506" name="Google Shape;506;p38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08" name="Google Shape;508;p38"/>
          <p:cNvGrpSpPr/>
          <p:nvPr/>
        </p:nvGrpSpPr>
        <p:grpSpPr>
          <a:xfrm>
            <a:off x="194658" y="2337626"/>
            <a:ext cx="3893746" cy="293363"/>
            <a:chOff x="1456688" y="738176"/>
            <a:chExt cx="3984595" cy="293363"/>
          </a:xfrm>
        </p:grpSpPr>
        <p:sp>
          <p:nvSpPr>
            <p:cNvPr id="509" name="Google Shape;509;p38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8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11" name="Google Shape;511;p38"/>
          <p:cNvGrpSpPr/>
          <p:nvPr/>
        </p:nvGrpSpPr>
        <p:grpSpPr>
          <a:xfrm>
            <a:off x="194654" y="2716125"/>
            <a:ext cx="3897462" cy="1004700"/>
            <a:chOff x="1452876" y="697098"/>
            <a:chExt cx="3988398" cy="1004700"/>
          </a:xfrm>
        </p:grpSpPr>
        <p:sp>
          <p:nvSpPr>
            <p:cNvPr id="512" name="Google Shape;512;p38"/>
            <p:cNvSpPr/>
            <p:nvPr/>
          </p:nvSpPr>
          <p:spPr>
            <a:xfrm>
              <a:off x="1699674" y="697098"/>
              <a:ext cx="3741600" cy="1004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8"/>
            <p:cNvSpPr txBox="1"/>
            <p:nvPr/>
          </p:nvSpPr>
          <p:spPr>
            <a:xfrm>
              <a:off x="1452876" y="1048368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14" name="Google Shape;514;p38"/>
          <p:cNvGrpSpPr/>
          <p:nvPr/>
        </p:nvGrpSpPr>
        <p:grpSpPr>
          <a:xfrm>
            <a:off x="194650" y="3696500"/>
            <a:ext cx="713225" cy="274004"/>
            <a:chOff x="320811" y="736526"/>
            <a:chExt cx="4144250" cy="274004"/>
          </a:xfrm>
        </p:grpSpPr>
        <p:sp>
          <p:nvSpPr>
            <p:cNvPr id="515" name="Google Shape;515;p38"/>
            <p:cNvSpPr/>
            <p:nvPr/>
          </p:nvSpPr>
          <p:spPr>
            <a:xfrm>
              <a:off x="1699661" y="771730"/>
              <a:ext cx="2765400" cy="238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8"/>
            <p:cNvSpPr txBox="1"/>
            <p:nvPr/>
          </p:nvSpPr>
          <p:spPr>
            <a:xfrm>
              <a:off x="320811" y="736526"/>
              <a:ext cx="1378800" cy="2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9" title="23.JPG"/>
          <p:cNvPicPr preferRelativeResize="0"/>
          <p:nvPr/>
        </p:nvPicPr>
        <p:blipFill rotWithShape="1">
          <a:blip r:embed="rId3">
            <a:alphaModFix/>
          </a:blip>
          <a:srcRect b="8518" l="19001" r="18964" t="11946"/>
          <a:stretch/>
        </p:blipFill>
        <p:spPr>
          <a:xfrm>
            <a:off x="254000" y="1037137"/>
            <a:ext cx="3979402" cy="30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9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화면설계서 (Screen Specification)  | 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알림 센터 [NOTI_LIST-01]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23" name="Google Shape;523;p39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NOTI_LIST-01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REQ-COMM-05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댓글 등록에 따른 사용자 알림 조회 및 관련 게시글 연동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4" name="Google Shape;524;p39"/>
          <p:cNvGraphicFramePr/>
          <p:nvPr/>
        </p:nvGraphicFramePr>
        <p:xfrm>
          <a:off x="4318000" y="16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80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162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알림 조회 및 게시글 이동: 로그인 사용자의 신규 알림 현황과 댓글 등록으로 생성된 알림 목록을 조회하여 알림 내용 및 발생 시점 표시 / 알림 항목 선택 시 해당 게시글 상세 화면 [PST_DTL-01]로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525" name="Google Shape;525;p39"/>
          <p:cNvGrpSpPr/>
          <p:nvPr/>
        </p:nvGrpSpPr>
        <p:grpSpPr>
          <a:xfrm>
            <a:off x="10221" y="1677475"/>
            <a:ext cx="1137331" cy="590400"/>
            <a:chOff x="1456688" y="771745"/>
            <a:chExt cx="1163867" cy="590400"/>
          </a:xfrm>
        </p:grpSpPr>
        <p:sp>
          <p:nvSpPr>
            <p:cNvPr id="526" name="Google Shape;526;p39"/>
            <p:cNvSpPr/>
            <p:nvPr/>
          </p:nvSpPr>
          <p:spPr>
            <a:xfrm>
              <a:off x="1706156" y="771745"/>
              <a:ext cx="914400" cy="5904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9"/>
            <p:cNvSpPr txBox="1"/>
            <p:nvPr/>
          </p:nvSpPr>
          <p:spPr>
            <a:xfrm>
              <a:off x="1456688" y="914629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0" title="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0" y="660400"/>
            <a:ext cx="3047496" cy="4229101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0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</a:t>
            </a:r>
            <a:r>
              <a:rPr b="1" lang="ko" sz="1200">
                <a:solidFill>
                  <a:srgbClr val="FFFFFF"/>
                </a:solidFill>
              </a:rPr>
              <a:t>관리자 대시보드 [ADM_MAIN-01]</a:t>
            </a:r>
            <a:endParaRPr b="1" sz="1200">
              <a:solidFill>
                <a:srgbClr val="FFFFFF"/>
              </a:solidFill>
            </a:endParaRPr>
          </a:p>
        </p:txBody>
      </p:sp>
      <p:graphicFrame>
        <p:nvGraphicFramePr>
          <p:cNvPr id="534" name="Google Shape;534;p40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ADM_MAIN-01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REQ-ADM-01, REQ-ADM-02, REQ-ADM-03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 제재·게시글 숨김·신고 처리 등 관리자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Google Shape;535;p40"/>
          <p:cNvGraphicFramePr/>
          <p:nvPr/>
        </p:nvGraphicFramePr>
        <p:xfrm>
          <a:off x="4318000" y="169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5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 현황 표시: 회원·게시글·신고 등 주요 관리 대상의 현황 정보를 조회하여 관리자 대시보드에 요약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 제재 관리: 회원 정보를 조회하고 계정 상태를 관리 / 제재 시 PATCH /api/admin/users/{id}/status 요청으로 SUSPENDED 상태 변경 / 해당 회원의 기존 로그인 세션 즉시 만료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관리: 게시글 목록 및 상태 조회 / 숨김 처리 시 PATCH /api/admin/posts/{id}/hide 요청으로 IS_HIDDEN 상태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신고 관리: 접수된 게시글·댓글 신고 내역을 조회하고 신고 사유 확인 후 처리 또는 반려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536" name="Google Shape;536;p40"/>
          <p:cNvGrpSpPr/>
          <p:nvPr/>
        </p:nvGrpSpPr>
        <p:grpSpPr>
          <a:xfrm>
            <a:off x="677766" y="1093100"/>
            <a:ext cx="1285798" cy="341400"/>
            <a:chOff x="1397872" y="733610"/>
            <a:chExt cx="1315798" cy="341400"/>
          </a:xfrm>
        </p:grpSpPr>
        <p:sp>
          <p:nvSpPr>
            <p:cNvPr id="537" name="Google Shape;537;p40"/>
            <p:cNvSpPr/>
            <p:nvPr/>
          </p:nvSpPr>
          <p:spPr>
            <a:xfrm>
              <a:off x="1640870" y="733610"/>
              <a:ext cx="1072800" cy="3414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0"/>
            <p:cNvSpPr txBox="1"/>
            <p:nvPr/>
          </p:nvSpPr>
          <p:spPr>
            <a:xfrm>
              <a:off x="1397872" y="741169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39" name="Google Shape;539;p40"/>
          <p:cNvGrpSpPr/>
          <p:nvPr/>
        </p:nvGrpSpPr>
        <p:grpSpPr>
          <a:xfrm>
            <a:off x="702333" y="1433875"/>
            <a:ext cx="2867190" cy="1653600"/>
            <a:chOff x="1577267" y="756381"/>
            <a:chExt cx="2998212" cy="1653600"/>
          </a:xfrm>
        </p:grpSpPr>
        <p:sp>
          <p:nvSpPr>
            <p:cNvPr id="540" name="Google Shape;540;p40"/>
            <p:cNvSpPr/>
            <p:nvPr/>
          </p:nvSpPr>
          <p:spPr>
            <a:xfrm>
              <a:off x="1820279" y="756381"/>
              <a:ext cx="2755200" cy="16536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0"/>
            <p:cNvSpPr txBox="1"/>
            <p:nvPr/>
          </p:nvSpPr>
          <p:spPr>
            <a:xfrm>
              <a:off x="1577267" y="1421395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42" name="Google Shape;542;p40"/>
          <p:cNvGrpSpPr/>
          <p:nvPr/>
        </p:nvGrpSpPr>
        <p:grpSpPr>
          <a:xfrm>
            <a:off x="702325" y="3106150"/>
            <a:ext cx="2867102" cy="929401"/>
            <a:chOff x="1645755" y="739294"/>
            <a:chExt cx="2933997" cy="292200"/>
          </a:xfrm>
        </p:grpSpPr>
        <p:sp>
          <p:nvSpPr>
            <p:cNvPr id="543" name="Google Shape;543;p40"/>
            <p:cNvSpPr/>
            <p:nvPr/>
          </p:nvSpPr>
          <p:spPr>
            <a:xfrm>
              <a:off x="1892352" y="739294"/>
              <a:ext cx="2687400" cy="292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0"/>
            <p:cNvSpPr txBox="1"/>
            <p:nvPr/>
          </p:nvSpPr>
          <p:spPr>
            <a:xfrm>
              <a:off x="1645755" y="838563"/>
              <a:ext cx="246600" cy="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45" name="Google Shape;545;p40"/>
          <p:cNvGrpSpPr/>
          <p:nvPr/>
        </p:nvGrpSpPr>
        <p:grpSpPr>
          <a:xfrm>
            <a:off x="677775" y="4054225"/>
            <a:ext cx="2867102" cy="834934"/>
            <a:chOff x="1645755" y="768886"/>
            <a:chExt cx="2933997" cy="262500"/>
          </a:xfrm>
        </p:grpSpPr>
        <p:sp>
          <p:nvSpPr>
            <p:cNvPr id="546" name="Google Shape;546;p40"/>
            <p:cNvSpPr/>
            <p:nvPr/>
          </p:nvSpPr>
          <p:spPr>
            <a:xfrm>
              <a:off x="1892352" y="768886"/>
              <a:ext cx="2687400" cy="2625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0"/>
            <p:cNvSpPr txBox="1"/>
            <p:nvPr/>
          </p:nvSpPr>
          <p:spPr>
            <a:xfrm>
              <a:off x="1645755" y="850108"/>
              <a:ext cx="246600" cy="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1" title="28.JPG"/>
          <p:cNvPicPr preferRelativeResize="0"/>
          <p:nvPr/>
        </p:nvPicPr>
        <p:blipFill rotWithShape="1">
          <a:blip r:embed="rId3">
            <a:alphaModFix/>
          </a:blip>
          <a:srcRect b="1846" l="32818" r="32925" t="11880"/>
          <a:stretch/>
        </p:blipFill>
        <p:spPr>
          <a:xfrm>
            <a:off x="715613" y="660400"/>
            <a:ext cx="2791429" cy="4229099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1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관리 로그 화면 [ADM_LOG-01] 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54" name="Google Shape;554;p41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ADM_LOG-01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REQ-ADM-04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로그인·관리자 작업 로그 통합 조회 및 10건 단위 페이징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5" name="Google Shape;555;p41"/>
          <p:cNvGraphicFramePr/>
          <p:nvPr/>
        </p:nvGraphicFramePr>
        <p:xfrm>
          <a:off x="4318000" y="169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{5B3ACB06-BE76-4FB8-97A7-3B104A78617F}</a:tableStyleId>
              </a:tblPr>
              <a:tblGrid>
                <a:gridCol w="2286000"/>
                <a:gridCol w="2286000"/>
              </a:tblGrid>
              <a:tr h="5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 화면 이동: 돌아가기 버튼 선택 시 관리자 메인 화면 [ADM_MAIN-01]로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 검색 및 조회: 로그 유형 및 검색 조건을 설정하여 관리 로그 조회 / GET /api/admin/logs 요청 시 type, page 조건을 적용하고 조회 결과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 작업 로그: ADMIN_ACTION_LOGS 기준 관리자 ID·작업 유형·대상 ID·작업 상세·처리 일시 등의 관리자 작업 이력 표시 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 로그: LOGIN_LOGS 기준 사용자 ID·IP 주소·로그인 결과·로그인 일시 등의 로그인 이력 표시 / 로그 목록을 페이지당 10건 단위로 조회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556" name="Google Shape;556;p41"/>
          <p:cNvGrpSpPr/>
          <p:nvPr/>
        </p:nvGrpSpPr>
        <p:grpSpPr>
          <a:xfrm>
            <a:off x="577085" y="1059442"/>
            <a:ext cx="702515" cy="272400"/>
            <a:chOff x="1409506" y="700577"/>
            <a:chExt cx="718906" cy="272400"/>
          </a:xfrm>
        </p:grpSpPr>
        <p:sp>
          <p:nvSpPr>
            <p:cNvPr id="557" name="Google Shape;557;p41"/>
            <p:cNvSpPr/>
            <p:nvPr/>
          </p:nvSpPr>
          <p:spPr>
            <a:xfrm>
              <a:off x="1651412" y="812885"/>
              <a:ext cx="477000" cy="981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1"/>
            <p:cNvSpPr txBox="1"/>
            <p:nvPr/>
          </p:nvSpPr>
          <p:spPr>
            <a:xfrm>
              <a:off x="1409506" y="700577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59" name="Google Shape;559;p41"/>
          <p:cNvGrpSpPr/>
          <p:nvPr/>
        </p:nvGrpSpPr>
        <p:grpSpPr>
          <a:xfrm>
            <a:off x="577125" y="1337732"/>
            <a:ext cx="2858496" cy="252681"/>
            <a:chOff x="1577267" y="-150456"/>
            <a:chExt cx="2998212" cy="2386038"/>
          </a:xfrm>
        </p:grpSpPr>
        <p:sp>
          <p:nvSpPr>
            <p:cNvPr id="560" name="Google Shape;560;p41"/>
            <p:cNvSpPr/>
            <p:nvPr/>
          </p:nvSpPr>
          <p:spPr>
            <a:xfrm>
              <a:off x="1820279" y="581982"/>
              <a:ext cx="2755200" cy="16536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1"/>
            <p:cNvSpPr txBox="1"/>
            <p:nvPr/>
          </p:nvSpPr>
          <p:spPr>
            <a:xfrm>
              <a:off x="1577267" y="-150456"/>
              <a:ext cx="243000" cy="225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62" name="Google Shape;562;p41"/>
          <p:cNvGrpSpPr/>
          <p:nvPr/>
        </p:nvGrpSpPr>
        <p:grpSpPr>
          <a:xfrm>
            <a:off x="577125" y="1590475"/>
            <a:ext cx="2858601" cy="1496629"/>
            <a:chOff x="1645755" y="739296"/>
            <a:chExt cx="2925297" cy="285900"/>
          </a:xfrm>
        </p:grpSpPr>
        <p:sp>
          <p:nvSpPr>
            <p:cNvPr id="563" name="Google Shape;563;p41"/>
            <p:cNvSpPr/>
            <p:nvPr/>
          </p:nvSpPr>
          <p:spPr>
            <a:xfrm>
              <a:off x="1892353" y="739296"/>
              <a:ext cx="2678700" cy="285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1"/>
            <p:cNvSpPr txBox="1"/>
            <p:nvPr/>
          </p:nvSpPr>
          <p:spPr>
            <a:xfrm>
              <a:off x="1645755" y="846048"/>
              <a:ext cx="246600" cy="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65" name="Google Shape;565;p41"/>
          <p:cNvGrpSpPr/>
          <p:nvPr/>
        </p:nvGrpSpPr>
        <p:grpSpPr>
          <a:xfrm>
            <a:off x="566995" y="3087047"/>
            <a:ext cx="2858592" cy="1536538"/>
            <a:chOff x="1645755" y="733571"/>
            <a:chExt cx="2925288" cy="297900"/>
          </a:xfrm>
        </p:grpSpPr>
        <p:sp>
          <p:nvSpPr>
            <p:cNvPr id="566" name="Google Shape;566;p41"/>
            <p:cNvSpPr/>
            <p:nvPr/>
          </p:nvSpPr>
          <p:spPr>
            <a:xfrm>
              <a:off x="1892344" y="733571"/>
              <a:ext cx="2678700" cy="297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1"/>
            <p:cNvSpPr txBox="1"/>
            <p:nvPr/>
          </p:nvSpPr>
          <p:spPr>
            <a:xfrm>
              <a:off x="1645755" y="846048"/>
              <a:ext cx="246600" cy="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2"/>
          <p:cNvSpPr txBox="1"/>
          <p:nvPr/>
        </p:nvSpPr>
        <p:spPr>
          <a:xfrm>
            <a:off x="533400" y="428625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08. </a:t>
            </a: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시연 영상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3" name="Google Shape;573;p42"/>
          <p:cNvSpPr txBox="1"/>
          <p:nvPr/>
        </p:nvSpPr>
        <p:spPr>
          <a:xfrm>
            <a:off x="533400" y="857250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4" name="Google Shape;574;p42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</a:t>
            </a: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75" name="Google Shape;575;p42" title="시연영상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5077" y="870425"/>
            <a:ext cx="6053836" cy="37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3"/>
          <p:cNvSpPr txBox="1"/>
          <p:nvPr/>
        </p:nvSpPr>
        <p:spPr>
          <a:xfrm>
            <a:off x="762000" y="1143000"/>
            <a:ext cx="7620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4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</a:t>
            </a:r>
            <a:endParaRPr b="0" sz="4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ko" sz="22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Q &amp; A</a:t>
            </a:r>
            <a:endParaRPr b="0" sz="22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
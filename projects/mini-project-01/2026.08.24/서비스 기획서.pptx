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FFAAED-F283-4251-A30F-FAD5525AEF5C}">
  <a:tblStyle styleId="{66FFAAED-F283-4251-A30F-FAD5525AEF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53378757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53378757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S_API53378757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S_API53378757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S_API533787579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S_API533787579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SLIDES_API533787579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SLIDES_API53378757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S_API533787579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S_API533787579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SLIDES_API533787579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SLIDES_API533787579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S_API533787579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S_API533787579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S_API533787579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S_API533787579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43c53b2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843c53b2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08000" y="635000"/>
            <a:ext cx="8127900" cy="38100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rgbClr val="818CF8"/>
                </a:solidFill>
              </a:rPr>
              <a:t>CINEHUB 서비스 기획서</a:t>
            </a:r>
            <a:endParaRPr b="1" sz="2600">
              <a:solidFill>
                <a:srgbClr val="818CF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FFFFFF"/>
                </a:solidFill>
              </a:rPr>
              <a:t>Information Architecture (IA) &amp; 화면설계서 (UI/UX 기능정책서)</a:t>
            </a:r>
            <a:endParaRPr b="1" sz="15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서비스 구조도  |  전체 정보 구조도 (Information Architecture)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3429000" y="698500"/>
            <a:ext cx="2286000" cy="381000"/>
          </a:xfrm>
          <a:prstGeom prst="roundRect">
            <a:avLst>
              <a:gd fmla="val 16667" name="adj"/>
            </a:avLst>
          </a:prstGeom>
          <a:solidFill>
            <a:srgbClr val="FEF08A"/>
          </a:solidFill>
          <a:ln cap="flat" cmpd="sng" w="9525">
            <a:solidFill>
              <a:srgbClr val="CA8A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713F12"/>
                </a:solidFill>
              </a:rPr>
              <a:t>CineHub Main (index.html)</a:t>
            </a:r>
            <a:endParaRPr b="1" sz="1000">
              <a:solidFill>
                <a:srgbClr val="713F12"/>
              </a:solidFill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254000" y="1206500"/>
            <a:ext cx="2095500" cy="3303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E293B"/>
                </a:solidFill>
              </a:rPr>
              <a:t>01. 회원/인증 (auth)</a:t>
            </a:r>
            <a:endParaRPr b="1" sz="950">
              <a:solidFill>
                <a:srgbClr val="1E293B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54000" y="1600200"/>
            <a:ext cx="2095500" cy="323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로그인 (login.html)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세션 발급 / 자동 로그인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회원가입 (register.html)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ID/닉네임 비동기 중복 확인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비밀번호 정규식 검증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마이페이지 (mypage.html)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정보수정, 찜목록, 내글/댓글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2476500" y="1206500"/>
            <a:ext cx="2095500" cy="330300"/>
          </a:xfrm>
          <a:prstGeom prst="roundRect">
            <a:avLst>
              <a:gd fmla="val 16667" name="adj"/>
            </a:avLst>
          </a:prstGeom>
          <a:solidFill>
            <a:srgbClr val="FFE4E6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E293B"/>
                </a:solidFill>
              </a:rPr>
              <a:t>02. 영화 도메인 (미정)</a:t>
            </a:r>
            <a:endParaRPr b="1" sz="950">
              <a:solidFill>
                <a:srgbClr val="1E293B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476500" y="1600200"/>
            <a:ext cx="2095500" cy="323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영화 목록 (list.html)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AI 자연어 검색 &amp; 장르필터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영화 상세 (detail.html)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TMDB 줄거리/평점/런타임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찜하기 (북마크 토글)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연관 커뮤니티 글 목록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699000" y="1206500"/>
            <a:ext cx="2095500" cy="3303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E293B"/>
                </a:solidFill>
              </a:rPr>
              <a:t>03. 커뮤니티 (post)</a:t>
            </a:r>
            <a:endParaRPr b="1" sz="950">
              <a:solidFill>
                <a:srgbClr val="1E293B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4699000" y="1600200"/>
            <a:ext cx="2095500" cy="323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글 목록 (list.html)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카테고리 탭 / 페이징 / 검색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글 상세 (detail.html)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본문 / 추천 / 신고 모달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계층형 댓글 (대댓글 비동기)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글 작성 (form.html)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에디터 &amp; 영화검색 첨부 모달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921500" y="1206500"/>
            <a:ext cx="2095500" cy="3303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E293B"/>
                </a:solidFill>
              </a:rPr>
              <a:t>04. 관리자 (admin)</a:t>
            </a:r>
            <a:endParaRPr b="1" sz="950">
              <a:solidFill>
                <a:srgbClr val="1E293B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921500" y="1600200"/>
            <a:ext cx="2095500" cy="323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통계 대시보드 (dashboard)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접속자, 가입자, 미처리신고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회원 관리 (users.html)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계정 상태변경 (활성/정지)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신고 관리 (reports.html)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블라인드 처리 / 반려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• 게시판 관리 (boards.html)</a:t>
            </a:r>
            <a:endParaRPr sz="850">
              <a:solidFill>
                <a:srgbClr val="33415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34155"/>
                </a:solidFill>
              </a:rPr>
              <a:t>  - 카테고리 추가/순서변경</a:t>
            </a:r>
            <a:endParaRPr sz="85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메인 홈 화면 [MAIN_HOME-01]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254000" y="660400"/>
            <a:ext cx="3936900" cy="42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📱 UI 와이어프레임 : MAIN_HOME-01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----------------------------------------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① GNB 로고 및 메뉴 (영화 탐색, 커뮤니티)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④ [AI 맞춤 영화 추천 배너]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  [비 오는 날 혼자 보기 좋은 SF...] [AI 추천]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⑤ 실시간 인기 영화 TOP 5 (인셉션, 인터스텔라...)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⑥ 커뮤니티 실시간 토론글 (추천/댓글 상위 목록)</a:t>
            </a:r>
            <a:endParaRPr sz="750">
              <a:solidFill>
                <a:srgbClr val="1E293B"/>
              </a:solidFill>
            </a:endParaRPr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화면명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MAIN_HOME-01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참고 요구사항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MAIN01_HOME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비고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메인 큐레이션 및 AI 자연어 검색 진입 허브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Google Shape;76;p15"/>
          <p:cNvGraphicFramePr/>
          <p:nvPr/>
        </p:nvGraphicFramePr>
        <p:xfrm>
          <a:off x="43180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No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기능 명세 및 정책 상세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1~3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GNB 네비게이션: 로고 클릭 시 홈 이동, 세션에 따른 로그인/마이페이지 분기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4(</a:t>
                      </a: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미정)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AI 자연어 검색: 입력 쿼리를 MOV_LIST-01?aiQuery로 전달 및 추천 렌더링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5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인기 영화: DB movies의 popularity 내림차순 상위 5개 작품 카드 렌더링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6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커뮤니티 인기글: 최근 7일 내 추천/댓글 합산 상위 게시글 노출 (클릭 시 상세 이동)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회원가입 화면 [AUTH_REG-01]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54000" y="660400"/>
            <a:ext cx="3936900" cy="42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📱 UI 와이어프레임 : AUTH_REG-01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----------------------------------------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① 아이디 입력 [       ]  ② [중복확인]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③ (사용 가능한 아이디입니다)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④ 닉네임 입력 [       ]  ⑤ [중복확인]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⑥ (사용 가능한 닉네임입니다)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⑦ 비밀번호 입력 (영문+숫자+특수문자 8~20자)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⑧ 비밀번호 확인란 [    ]  ⑨ (비밀번호 일치)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⑩ [       회 원 가 입   완 료       ]</a:t>
            </a:r>
            <a:endParaRPr sz="750">
              <a:solidFill>
                <a:srgbClr val="1E293B"/>
              </a:solidFill>
            </a:endParaRPr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화면명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AUTH_REG-01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참고 요구사항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MEM01_SIGNUP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비고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비동기 ID/닉네임 중복검사 및 비밀번호 정책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16"/>
          <p:cNvGraphicFramePr/>
          <p:nvPr/>
        </p:nvGraphicFramePr>
        <p:xfrm>
          <a:off x="43180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No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기능 명세 및 정책 상세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1~3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아이디 유효성: 영문+숫자 4~12자. GET /api/auth/check-username 비동기 검증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4~6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닉네임 유효성: 한글/영문/숫자 2~10자. GET /api/auth/check-nickname 비동기 검사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7~9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비밀번호 검증: 영문, 숫자, 특수문자 조합 8~20자. onkeyup 실시간 일치 비교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10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가입 완료: 유효성/중복체크 전원 통과 시 POST /auth/register 전송 후 로그인 이동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영화 상세 정보 화면 [MOV_DTL-01]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254000" y="660400"/>
            <a:ext cx="3936900" cy="42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📱 UI 와이어프레임 : MOV_DTL-01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----------------------------------------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① [&lt; 목록으로]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② 인셉션 (Inception, 2010)        ⑦ [♥ 찜하기]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③ 평점: ★ 8.8  |  ④ 상영시간: 148분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⑥ [포스터 이미지] [poster_path]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⑧ [줄거리 Overview] 타인의 꿈에 들어가 생각을...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⑩ 이 영화 관련 이야기 (42건)     ⑨ [+ 글쓰기]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• [리뷰] 엔딩 팽이 씬에 대한 3가지 해석</a:t>
            </a:r>
            <a:endParaRPr sz="750">
              <a:solidFill>
                <a:srgbClr val="1E293B"/>
              </a:solidFill>
            </a:endParaRPr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화면명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MOV_DTL-01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참고 요구사항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MOV02_DETAIL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비고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TMDB 메타데이터 렌더링, 찜하기 토글, 관련 글 연동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Google Shape;92;p17"/>
          <p:cNvGraphicFramePr/>
          <p:nvPr/>
        </p:nvGraphicFramePr>
        <p:xfrm>
          <a:off x="43180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No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기능 명세 및 정책 상세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1~5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영화 메타데이터: movies 테이블(제목, 원제, 평점, 상영시간, 개봉일) 매핑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6, 8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포스터/줄거리: poster_path 및 overview 렌더링 (미등록 시 대체 문구 출력)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7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찜하기: POST /api/movies/{id}/bookmark 비동기 토글 (하트 UI 상태 갱신)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9~10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커뮤니티 연동: movie_id 첨부 글쓰기 이동 / 일치하는 최신 글 5건 노출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게시글 상세 및 계층형 댓글 [PST_DTL-01]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254000" y="660400"/>
            <a:ext cx="3936900" cy="42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📱 UI 와이어프레임 : PST_DTL-01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----------------------------------------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① [목록]  ② [영화리뷰] 엔딩 팽이 씬 해석 정리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작성자: ③ 무비매니아 | 작성일: ④ 2026-08-24 | 조회: ⑤ 1420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⑥ 🎬 연관 영화 : 인셉션 (2010) ★8.8 [상세보기]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⑦ [게시글 본문 에디터 내용 렌더링]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       ⑧ [ 👍 추천 45 ]      ⑨ [ 🚨 신고 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⑩ 댓글 입력 [         ]  ⑪ [등록]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⑫ • 유저A : 동의합니다! [답글]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  ↳ ⑭ 작성자 : 감사합니다! [삭제]</a:t>
            </a:r>
            <a:endParaRPr sz="750">
              <a:solidFill>
                <a:srgbClr val="1E293B"/>
              </a:solidFill>
            </a:endParaRPr>
          </a:p>
        </p:txBody>
      </p:sp>
      <p:graphicFrame>
        <p:nvGraphicFramePr>
          <p:cNvPr id="99" name="Google Shape;99;p18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화면명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PST_DTL-01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참고 요구사항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PST02_DETAIL, PST03_COMMENT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비고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계층형 대댓글(comments) 비동기 CRUD 및 추천/신고 연동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Google Shape;100;p18"/>
          <p:cNvGraphicFramePr/>
          <p:nvPr/>
        </p:nvGraphicFramePr>
        <p:xfrm>
          <a:off x="43180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No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기능 명세 및 정책 상세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1~6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본문 렌더링: 제목/작성자/조회수 바인딩 및 연관 영화 카드 클릭 시 상세 이동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7~9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추천/신고: 1인 1회 추천 제한 비동기 호출 / 신고 사유 모달 접수 후 reports 적재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10~11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루트 댓글: POST /api/posts/{id}/comments 비동기 요청 및 리스트 갱신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12~14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계층형 댓글: (post_id, parent_comment_id, created_at) 정렬 / 인라인 답글 등록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글 작성 및 영화 첨부 모달 [PST_FORM-01 / 02]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254000" y="660400"/>
            <a:ext cx="3936900" cy="42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📱 UI 와이어프레임 : PST_FORM-01 / 02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----------------------------------------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카테고리: ① [ 영화리뷰 ▼ 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제목:     ② [ 게시글 제목을 입력하세요 (2~100자) 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영화첨부: ③ [인셉션 (2010) [X]]  또는  ④ [🔍 영화검색]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⑤ [WYSIWYG 서식 에디터 본문 입력 영역]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                 ⑥ [취소]      ⑦ [등록 완료]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⑧ [영화 검색 모달 팝업]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  검색: [ 인터스텔라 ] [검색] -&gt; 결과 선택</a:t>
            </a:r>
            <a:endParaRPr sz="750">
              <a:solidFill>
                <a:srgbClr val="1E293B"/>
              </a:solidFill>
            </a:endParaRPr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화면명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PST_FORM-01 / 02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참고 요구사항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PST01_WRITE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비고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에디터 서식 적용 및 영화 검색/첨부 비동기 모달 연동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Google Shape;108;p19"/>
          <p:cNvGraphicFramePr/>
          <p:nvPr/>
        </p:nvGraphicFramePr>
        <p:xfrm>
          <a:off x="43180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No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기능 명세 및 정책 상세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1~2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카테고리 및 제목: 분류 선택 유효성 검사 및 제목 2~100자 검증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3~4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영화 첨부: 모달에서 선택 시 hidden input에 movie_id 저장 및 첨부 배지 생성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5~7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본문 작성: 에디터 최소 10자 이상 필수 입력 / 등록 시 POST /post/form 전송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8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영화 검색 모달: movies DB / TMDB 비동기 LIKE 검색 및 폼 바인딩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 화면설계서 (Screen Specification)  |  관리자 신고 관리 화면 [ADM_REP-01]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254000" y="660400"/>
            <a:ext cx="3936900" cy="42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📱 UI 와이어프레임 : ADM_REP-01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----------------------------------------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① [관리자 사이드바]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📊 대시보드 / 👥 회원관리 / 🚨 신고관리* / 📋 게시판관리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② [신고 관리 헤더]  ③ 필터: [상태: 대기▼] [유형: 전체▼]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④ [신고 목록 테이블]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• #102 [글] 스팸 광고글... (사유:홍보) -&gt; [블라인드] [반려]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• #101 [댓글] 욕설 비방... (사유:욕설) -&gt; [블라인드] [반려]</a:t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1E293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E293B"/>
                </a:solidFill>
              </a:rPr>
              <a:t>⑤ &lt; 1 [2] 3 4 5 &gt; (페이징)</a:t>
            </a:r>
            <a:endParaRPr sz="750">
              <a:solidFill>
                <a:srgbClr val="1E293B"/>
              </a:solidFill>
            </a:endParaRPr>
          </a:p>
        </p:txBody>
      </p:sp>
      <p:graphicFrame>
        <p:nvGraphicFramePr>
          <p:cNvPr id="115" name="Google Shape;115;p20"/>
          <p:cNvGraphicFramePr/>
          <p:nvPr/>
        </p:nvGraphicFramePr>
        <p:xfrm>
          <a:off x="4318000" y="66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화면명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ADM_REP-01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참고 요구사항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ADM02_REPORT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7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4F46E5"/>
                          </a:solidFill>
                        </a:rPr>
                        <a:t>비고</a:t>
                      </a:r>
                      <a:endParaRPr b="1" sz="800">
                        <a:solidFill>
                          <a:srgbClr val="4F46E5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E293B"/>
                          </a:solidFill>
                        </a:rPr>
                        <a:t>관리자(ADMIN) 전용 불량 게시글/댓글 블라인드 처리</a:t>
                      </a:r>
                      <a:endParaRPr sz="80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Google Shape;116;p20"/>
          <p:cNvGraphicFramePr/>
          <p:nvPr/>
        </p:nvGraphicFramePr>
        <p:xfrm>
          <a:off x="43180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{66FFAAED-F283-4251-A30F-FAD5525AEF5C}</a:tableStyleId>
              </a:tblPr>
              <a:tblGrid>
                <a:gridCol w="2286000"/>
                <a:gridCol w="2286000"/>
              </a:tblGrid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No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50">
                          <a:solidFill>
                            <a:srgbClr val="FFFFFF"/>
                          </a:solidFill>
                        </a:rPr>
                        <a:t>기능 명세 및 정책 상세</a:t>
                      </a:r>
                      <a:endParaRPr b="1" sz="85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F46E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1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관리자 사이드바: admin_sidebar.html 공통 모듈 및 ADMIN 권한 접근 제어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2~3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신고 필터: 상태(대기/완료/반려) 및 유형(게시글/댓글) 다중 필터링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4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블라인드/반려: 승인 시 대상 글 status를 BLINDED로 변경 / 반려 시 REJECTED 처리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>
                          <a:solidFill>
                            <a:srgbClr val="E11D48"/>
                          </a:solidFill>
                        </a:rPr>
                        <a:t>5</a:t>
                      </a:r>
                      <a:endParaRPr b="1" sz="800">
                        <a:solidFill>
                          <a:srgbClr val="E11D4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50">
                          <a:solidFill>
                            <a:srgbClr val="1E293B"/>
                          </a:solidFill>
                        </a:rPr>
                        <a:t>페이징: 신고 접수 건수 기준 10건 단위 페이징 렌더링</a:t>
                      </a:r>
                      <a:endParaRPr sz="750">
                        <a:solidFill>
                          <a:srgbClr val="1E293B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254000" y="190500"/>
            <a:ext cx="8636100" cy="38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</a:rPr>
              <a:t>ERD</a:t>
            </a:r>
            <a:endParaRPr b="1" sz="1200">
              <a:solidFill>
                <a:srgbClr val="FFFFFF"/>
              </a:solidFill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213" y="571500"/>
            <a:ext cx="4785576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